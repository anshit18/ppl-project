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6110"/>
  </p:normalViewPr>
  <p:slideViewPr>
    <p:cSldViewPr snapToGrid="0" snapToObjects="1">
      <p:cViewPr varScale="1">
        <p:scale>
          <a:sx n="121" d="100"/>
          <a:sy n="121" d="100"/>
        </p:scale>
        <p:origin x="22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280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morning/afternoon, Professor. Today I'm presenting my term project — a Probabilistic Programming Language I built from scratch in JavaScript that performs Bayesian inference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problem I'm addressing: traditional programming forces concrete values, but real-world problems involve uncertainty. Patient measurements, sensor readings, population statistics — all inherently probabilistic. Researchers currently hand-implement complex statistical algorithms, which is error-prone and requires deep statistical expertise.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My solution is a PPL that abstracts the complexity. Users write probabilistic models in an intuitive syntax, and the system automatically performs Bayesian inference. The language supports four probability distributions, two inference algorithms, and generates interactive visualizations to interpret results.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architecture follows a classic compiler pipeline. The Lexer tokenizes code, the Parser builds an AST using recursive descent, and the Interpreter executes programs while tracking log probabilities. The Inference Engine runs the interpreter thousands of times to generate samples. Working in log space throughout was critical to prevent numerical underflow when multiplying many small probabilities.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the actual NHANES PPL program. We define prior beliefs about the intercept alpha, slope beta, and noise sigma. We then observe one data point — a person 170 cm tall weighing 70 kg — and the PPL automatically infers which parameter values are most consistent with this observation using Bayesian updating.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implemented two inference algorithms. Rejection sampling repeatedly runs the program and keeps only samples meeting a specified condition — simple but inefficient. Importance sampling keeps all samples but weights them by how well they explain observations — more efficient but requires careful log-sum-exp weight normalization. On the coin-flip/height model, rejection achieved 15.70% acceptance vs 15.87% theoretical. The low ESS on NHANES is expected with 30 observations and a prior-sampling approach.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NHANES validation is the </a:t>
            </a:r>
            <a:r>
              <a:rPr dirty="0" err="1"/>
              <a:t>centrepiece</a:t>
            </a:r>
            <a:r>
              <a:rPr dirty="0"/>
              <a:t>. We filtered the CDC dataset to 7,412 adults, randomly selected 30 observations, and ran importance sampling with 5,000 samples. Beta — the slope relating height to weight — came back at 1.096 kg/cm versus the CDC reference of 1.1, a 0.37% error. Alpha and sigma also validate cleanly. The sigma being ~19 rather than 12 is explained by pooling both sexes without a gender covariate.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hit four key technical challenges. First, numerical underflow when multiplying many small probabilities — solved by log-space arithmetic throughout. Second, the recursive-descent parser had no unary-minus rule, so normal(-90, 50) failed — fixed by treating -x as 0-x at the AST level. Third, </a:t>
            </a:r>
            <a:r>
              <a:rPr dirty="0" err="1"/>
              <a:t>Chart.js</a:t>
            </a:r>
            <a:r>
              <a:rPr dirty="0"/>
              <a:t> native bindings wouldn't install, so I pivoted to CDN-based HTML — which actually produced better output. Fourth, handling 30 NHANES observations required subclassing the interpreter to accumulate log-likelihood across all data points.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has real-world impact across multiple domains. In medical diagnosis, you observe patient symptoms and infer disease probabilities. In robotics, you observe noisy sensor readings and infer robot state. In data science, you observe training data and infer model parameters. The key value is making Bayesian inference accessible to domain experts who are not statistical programmers, reducing errors and enabling rapid prototyping.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primary limitation is the low effective sample size when importance-sampling from the prior against many observations — this is a known issue with prior-sampling inference. The natural fix is MCMC, specifically Metropolis-Hastings, which explores the posterior directly and scales to large datasets. Other extensions include loops and conditionals for a Turing-complete language, additional distributions, and gender-stratified NHANES models.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summarize: I built a complete probabilistic programming language with a full compiler pipeline, implemented two inference algorithms validated within 0.17% of theoretical values, validated the system on real CDC NHANES data recovering the height-weight beta coefficient within 0.37% of the published reference, and created an automated visualization system. I learned compiler design, numerical methods, and Bayesian inference end-to-end. Thank you — I'm happy to answer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you'd like, I can show a quick live demo of the system in action.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80160"/>
            <a:ext cx="11091672" cy="777240"/>
          </a:xfrm>
          <a:prstGeom prst="rect">
            <a:avLst/>
          </a:prstGeom>
          <a:noFill/>
        </p:spPr>
        <p:txBody>
          <a:bodyPr wrap="square">
            <a:spAutoFit/>
          </a:bodyPr>
          <a:lstStyle/>
          <a:p>
            <a:pPr algn="ctr"/>
            <a:r>
              <a:rPr sz="3800" b="1" i="0" dirty="0">
                <a:solidFill>
                  <a:srgbClr val="FFFFFF"/>
                </a:solidFill>
              </a:rPr>
              <a:t>Probabilistic Programming Language</a:t>
            </a:r>
          </a:p>
        </p:txBody>
      </p:sp>
      <p:sp>
        <p:nvSpPr>
          <p:cNvPr id="6" name="TextBox 5"/>
          <p:cNvSpPr txBox="1"/>
          <p:nvPr/>
        </p:nvSpPr>
        <p:spPr>
          <a:xfrm>
            <a:off x="548640" y="2011680"/>
            <a:ext cx="11091672" cy="594360"/>
          </a:xfrm>
          <a:prstGeom prst="rect">
            <a:avLst/>
          </a:prstGeom>
          <a:noFill/>
        </p:spPr>
        <p:txBody>
          <a:bodyPr wrap="square">
            <a:spAutoFit/>
          </a:bodyPr>
          <a:lstStyle/>
          <a:p>
            <a:pPr algn="ctr"/>
            <a:r>
              <a:rPr sz="3000" b="1" i="0" dirty="0">
                <a:solidFill>
                  <a:srgbClr val="3498DB"/>
                </a:solidFill>
              </a:rPr>
              <a:t>with Bayesian Inference</a:t>
            </a:r>
          </a:p>
        </p:txBody>
      </p:sp>
      <p:sp>
        <p:nvSpPr>
          <p:cNvPr id="8" name="Rectangle 7"/>
          <p:cNvSpPr/>
          <p:nvPr/>
        </p:nvSpPr>
        <p:spPr>
          <a:xfrm>
            <a:off x="3657600" y="2737131"/>
            <a:ext cx="4873752" cy="44257"/>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246120"/>
            <a:ext cx="11091672" cy="347472"/>
          </a:xfrm>
          <a:prstGeom prst="rect">
            <a:avLst/>
          </a:prstGeom>
          <a:noFill/>
        </p:spPr>
        <p:txBody>
          <a:bodyPr wrap="square">
            <a:spAutoFit/>
          </a:bodyPr>
          <a:lstStyle/>
          <a:p>
            <a:pPr algn="ctr"/>
            <a:r>
              <a:rPr sz="1800" b="1" i="0" dirty="0">
                <a:solidFill>
                  <a:srgbClr val="FFFFFF"/>
                </a:solidFill>
              </a:rPr>
              <a:t>Anshit Singh Panchbahadur Rajput</a:t>
            </a:r>
          </a:p>
        </p:txBody>
      </p:sp>
      <p:sp>
        <p:nvSpPr>
          <p:cNvPr id="10" name="TextBox 9"/>
          <p:cNvSpPr txBox="1"/>
          <p:nvPr/>
        </p:nvSpPr>
        <p:spPr>
          <a:xfrm>
            <a:off x="548640" y="3593592"/>
            <a:ext cx="11091672" cy="320040"/>
          </a:xfrm>
          <a:prstGeom prst="rect">
            <a:avLst/>
          </a:prstGeom>
          <a:noFill/>
        </p:spPr>
        <p:txBody>
          <a:bodyPr wrap="square">
            <a:spAutoFit/>
          </a:bodyPr>
          <a:lstStyle/>
          <a:p>
            <a:pPr algn="ctr"/>
            <a:r>
              <a:rPr sz="1500" b="0" i="0" dirty="0">
                <a:solidFill>
                  <a:srgbClr val="BDC3C7"/>
                </a:solidFill>
              </a:rPr>
              <a:t>B01101193  |  Advisor: Prof. Eric Atkinson</a:t>
            </a:r>
          </a:p>
        </p:txBody>
      </p:sp>
      <p:sp>
        <p:nvSpPr>
          <p:cNvPr id="11" name="TextBox 10"/>
          <p:cNvSpPr txBox="1"/>
          <p:nvPr/>
        </p:nvSpPr>
        <p:spPr>
          <a:xfrm>
            <a:off x="548640" y="3913632"/>
            <a:ext cx="11091672" cy="320040"/>
          </a:xfrm>
          <a:prstGeom prst="rect">
            <a:avLst/>
          </a:prstGeom>
          <a:noFill/>
        </p:spPr>
        <p:txBody>
          <a:bodyPr wrap="square">
            <a:spAutoFit/>
          </a:bodyPr>
          <a:lstStyle/>
          <a:p>
            <a:pPr algn="ctr"/>
            <a:r>
              <a:rPr sz="1400" b="0" i="0">
                <a:solidFill>
                  <a:srgbClr val="7F8C8D"/>
                </a:solidFill>
              </a:rPr>
              <a:t>Graduate Program in Computer Science  |  May 2026</a:t>
            </a:r>
          </a:p>
        </p:txBody>
      </p:sp>
      <p:sp>
        <p:nvSpPr>
          <p:cNvPr id="12" name="Rectangle 11"/>
          <p:cNvSpPr/>
          <p:nvPr/>
        </p:nvSpPr>
        <p:spPr>
          <a:xfrm>
            <a:off x="3474720" y="4754880"/>
            <a:ext cx="5239512" cy="868680"/>
          </a:xfrm>
          <a:prstGeom prst="rect">
            <a:avLst/>
          </a:prstGeom>
          <a:solidFill>
            <a:srgbClr val="1A2530"/>
          </a:solidFill>
          <a:ln w="127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4800600"/>
            <a:ext cx="4965192" cy="777240"/>
          </a:xfrm>
          <a:prstGeom prst="rect">
            <a:avLst/>
          </a:prstGeom>
          <a:noFill/>
        </p:spPr>
        <p:txBody>
          <a:bodyPr wrap="square">
            <a:spAutoFit/>
          </a:bodyPr>
          <a:lstStyle/>
          <a:p>
            <a:pPr algn="l"/>
            <a:r>
              <a:rPr sz="1300" b="0" i="0">
                <a:solidFill>
                  <a:srgbClr val="2ECC71"/>
                </a:solidFill>
              </a:rPr>
              <a:t>height = sample(normal(170, 10))
observe(weight, normal(mu, sigma))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Why Probabilistic Programming?</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71600"/>
            <a:ext cx="11640312" cy="1188720"/>
          </a:xfrm>
          <a:prstGeom prst="rect">
            <a:avLst/>
          </a:prstGeom>
          <a:solidFill>
            <a:srgbClr val="F0F4F8"/>
          </a:solidFill>
          <a:ln w="25400">
            <a:solidFill>
              <a:srgbClr val="2C3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463040"/>
            <a:ext cx="502920" cy="502920"/>
          </a:xfrm>
          <a:prstGeom prst="rect">
            <a:avLst/>
          </a:prstGeom>
          <a:noFill/>
        </p:spPr>
        <p:txBody>
          <a:bodyPr wrap="square">
            <a:spAutoFit/>
          </a:bodyPr>
          <a:lstStyle/>
          <a:p>
            <a:pPr algn="ctr"/>
            <a:r>
              <a:rPr sz="2600" b="0" i="0">
                <a:solidFill>
                  <a:srgbClr val="2C3E50"/>
                </a:solidFill>
              </a:rPr>
              <a:t>📌</a:t>
            </a:r>
          </a:p>
        </p:txBody>
      </p:sp>
      <p:sp>
        <p:nvSpPr>
          <p:cNvPr id="9" name="TextBox 8"/>
          <p:cNvSpPr txBox="1"/>
          <p:nvPr/>
        </p:nvSpPr>
        <p:spPr>
          <a:xfrm>
            <a:off x="960120" y="1444752"/>
            <a:ext cx="4572000" cy="384048"/>
          </a:xfrm>
          <a:prstGeom prst="rect">
            <a:avLst/>
          </a:prstGeom>
          <a:noFill/>
        </p:spPr>
        <p:txBody>
          <a:bodyPr wrap="square">
            <a:spAutoFit/>
          </a:bodyPr>
          <a:lstStyle/>
          <a:p>
            <a:pPr algn="l"/>
            <a:r>
              <a:rPr sz="2000" b="1" i="0">
                <a:solidFill>
                  <a:srgbClr val="2C3E50"/>
                </a:solidFill>
              </a:rPr>
              <a:t>Traditional Programming</a:t>
            </a:r>
          </a:p>
        </p:txBody>
      </p:sp>
      <p:sp>
        <p:nvSpPr>
          <p:cNvPr id="10" name="TextBox 9"/>
          <p:cNvSpPr txBox="1"/>
          <p:nvPr/>
        </p:nvSpPr>
        <p:spPr>
          <a:xfrm>
            <a:off x="960120" y="1828800"/>
            <a:ext cx="5029200" cy="347472"/>
          </a:xfrm>
          <a:prstGeom prst="rect">
            <a:avLst/>
          </a:prstGeom>
          <a:noFill/>
        </p:spPr>
        <p:txBody>
          <a:bodyPr wrap="square">
            <a:spAutoFit/>
          </a:bodyPr>
          <a:lstStyle/>
          <a:p>
            <a:pPr algn="l"/>
            <a:r>
              <a:rPr sz="1600" b="0" i="0">
                <a:solidFill>
                  <a:srgbClr val="2C3E50"/>
                </a:solidFill>
              </a:rPr>
              <a:t>Works with concrete, deterministic values</a:t>
            </a:r>
          </a:p>
        </p:txBody>
      </p:sp>
      <p:sp>
        <p:nvSpPr>
          <p:cNvPr id="11" name="Rectangle 10"/>
          <p:cNvSpPr/>
          <p:nvPr/>
        </p:nvSpPr>
        <p:spPr>
          <a:xfrm>
            <a:off x="7132320" y="1645920"/>
            <a:ext cx="4663440" cy="566928"/>
          </a:xfrm>
          <a:prstGeom prst="rect">
            <a:avLst/>
          </a:prstGeom>
          <a:solidFill>
            <a:srgbClr val="F8F9FA"/>
          </a:solidFill>
          <a:ln w="12700">
            <a:solidFill>
              <a:srgbClr val="2C3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69480" y="1673352"/>
            <a:ext cx="4389120" cy="502920"/>
          </a:xfrm>
          <a:prstGeom prst="rect">
            <a:avLst/>
          </a:prstGeom>
          <a:noFill/>
        </p:spPr>
        <p:txBody>
          <a:bodyPr wrap="square">
            <a:spAutoFit/>
          </a:bodyPr>
          <a:lstStyle/>
          <a:p>
            <a:pPr algn="ctr"/>
            <a:r>
              <a:rPr sz="1500" b="1" i="0">
                <a:solidFill>
                  <a:srgbClr val="2C3E50"/>
                </a:solidFill>
              </a:rPr>
              <a:t>x = 5</a:t>
            </a:r>
          </a:p>
        </p:txBody>
      </p:sp>
      <p:sp>
        <p:nvSpPr>
          <p:cNvPr id="13" name="Rectangle 12"/>
          <p:cNvSpPr/>
          <p:nvPr/>
        </p:nvSpPr>
        <p:spPr>
          <a:xfrm>
            <a:off x="274320" y="2743200"/>
            <a:ext cx="11640312" cy="118872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2834640"/>
            <a:ext cx="502920" cy="502920"/>
          </a:xfrm>
          <a:prstGeom prst="rect">
            <a:avLst/>
          </a:prstGeom>
          <a:noFill/>
        </p:spPr>
        <p:txBody>
          <a:bodyPr wrap="square">
            <a:spAutoFit/>
          </a:bodyPr>
          <a:lstStyle/>
          <a:p>
            <a:pPr algn="ctr"/>
            <a:r>
              <a:rPr sz="2600" b="0" i="0">
                <a:solidFill>
                  <a:srgbClr val="2C3E50"/>
                </a:solidFill>
              </a:rPr>
              <a:t>❓</a:t>
            </a:r>
          </a:p>
        </p:txBody>
      </p:sp>
      <p:sp>
        <p:nvSpPr>
          <p:cNvPr id="15" name="TextBox 14"/>
          <p:cNvSpPr txBox="1"/>
          <p:nvPr/>
        </p:nvSpPr>
        <p:spPr>
          <a:xfrm>
            <a:off x="960120" y="2816352"/>
            <a:ext cx="4572000" cy="384048"/>
          </a:xfrm>
          <a:prstGeom prst="rect">
            <a:avLst/>
          </a:prstGeom>
          <a:noFill/>
        </p:spPr>
        <p:txBody>
          <a:bodyPr wrap="square">
            <a:spAutoFit/>
          </a:bodyPr>
          <a:lstStyle/>
          <a:p>
            <a:pPr algn="l"/>
            <a:r>
              <a:rPr sz="2000" b="1" i="0">
                <a:solidFill>
                  <a:srgbClr val="3498DB"/>
                </a:solidFill>
              </a:rPr>
              <a:t>Real-World Problems</a:t>
            </a:r>
          </a:p>
        </p:txBody>
      </p:sp>
      <p:sp>
        <p:nvSpPr>
          <p:cNvPr id="16" name="TextBox 15"/>
          <p:cNvSpPr txBox="1"/>
          <p:nvPr/>
        </p:nvSpPr>
        <p:spPr>
          <a:xfrm>
            <a:off x="960120" y="3200400"/>
            <a:ext cx="5029200" cy="347472"/>
          </a:xfrm>
          <a:prstGeom prst="rect">
            <a:avLst/>
          </a:prstGeom>
          <a:noFill/>
        </p:spPr>
        <p:txBody>
          <a:bodyPr wrap="square">
            <a:spAutoFit/>
          </a:bodyPr>
          <a:lstStyle/>
          <a:p>
            <a:pPr algn="l"/>
            <a:r>
              <a:rPr sz="1600" b="0" i="0">
                <a:solidFill>
                  <a:srgbClr val="2C3E50"/>
                </a:solidFill>
              </a:rPr>
              <a:t>Involve inherent uncertainty and variability</a:t>
            </a:r>
          </a:p>
        </p:txBody>
      </p:sp>
      <p:sp>
        <p:nvSpPr>
          <p:cNvPr id="17" name="Rectangle 16"/>
          <p:cNvSpPr/>
          <p:nvPr/>
        </p:nvSpPr>
        <p:spPr>
          <a:xfrm>
            <a:off x="7132320" y="3017520"/>
            <a:ext cx="4663440" cy="566928"/>
          </a:xfrm>
          <a:prstGeom prst="rect">
            <a:avLst/>
          </a:prstGeom>
          <a:solidFill>
            <a:srgbClr val="F8F9FA"/>
          </a:solidFill>
          <a:ln w="127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3044952"/>
            <a:ext cx="4389120" cy="502920"/>
          </a:xfrm>
          <a:prstGeom prst="rect">
            <a:avLst/>
          </a:prstGeom>
          <a:noFill/>
        </p:spPr>
        <p:txBody>
          <a:bodyPr wrap="square">
            <a:spAutoFit/>
          </a:bodyPr>
          <a:lstStyle/>
          <a:p>
            <a:pPr algn="ctr"/>
            <a:r>
              <a:rPr sz="1500" b="1" i="0">
                <a:solidFill>
                  <a:srgbClr val="3498DB"/>
                </a:solidFill>
              </a:rPr>
              <a:t>height ≈ 170cm ± 10cm</a:t>
            </a:r>
          </a:p>
        </p:txBody>
      </p:sp>
      <p:sp>
        <p:nvSpPr>
          <p:cNvPr id="19" name="Rectangle 18"/>
          <p:cNvSpPr/>
          <p:nvPr/>
        </p:nvSpPr>
        <p:spPr>
          <a:xfrm>
            <a:off x="274320" y="4114800"/>
            <a:ext cx="11640312" cy="1188720"/>
          </a:xfrm>
          <a:prstGeom prst="rect">
            <a:avLst/>
          </a:prstGeom>
          <a:solidFill>
            <a:srgbClr val="F0F4F8"/>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4206240"/>
            <a:ext cx="502920" cy="502920"/>
          </a:xfrm>
          <a:prstGeom prst="rect">
            <a:avLst/>
          </a:prstGeom>
          <a:noFill/>
        </p:spPr>
        <p:txBody>
          <a:bodyPr wrap="square">
            <a:spAutoFit/>
          </a:bodyPr>
          <a:lstStyle/>
          <a:p>
            <a:pPr algn="ctr"/>
            <a:r>
              <a:rPr sz="2600" b="0" i="0">
                <a:solidFill>
                  <a:srgbClr val="2C3E50"/>
                </a:solidFill>
              </a:rPr>
              <a:t>⚠️</a:t>
            </a:r>
          </a:p>
        </p:txBody>
      </p:sp>
      <p:sp>
        <p:nvSpPr>
          <p:cNvPr id="21" name="TextBox 20"/>
          <p:cNvSpPr txBox="1"/>
          <p:nvPr/>
        </p:nvSpPr>
        <p:spPr>
          <a:xfrm>
            <a:off x="960120" y="4187952"/>
            <a:ext cx="4572000" cy="384048"/>
          </a:xfrm>
          <a:prstGeom prst="rect">
            <a:avLst/>
          </a:prstGeom>
          <a:noFill/>
        </p:spPr>
        <p:txBody>
          <a:bodyPr wrap="square">
            <a:spAutoFit/>
          </a:bodyPr>
          <a:lstStyle/>
          <a:p>
            <a:pPr algn="l"/>
            <a:r>
              <a:rPr sz="2000" b="1" i="0">
                <a:solidFill>
                  <a:srgbClr val="E74C3C"/>
                </a:solidFill>
              </a:rPr>
              <a:t>Current Gap</a:t>
            </a:r>
          </a:p>
        </p:txBody>
      </p:sp>
      <p:sp>
        <p:nvSpPr>
          <p:cNvPr id="22" name="TextBox 21"/>
          <p:cNvSpPr txBox="1"/>
          <p:nvPr/>
        </p:nvSpPr>
        <p:spPr>
          <a:xfrm>
            <a:off x="960120" y="4572000"/>
            <a:ext cx="5029200" cy="347472"/>
          </a:xfrm>
          <a:prstGeom prst="rect">
            <a:avLst/>
          </a:prstGeom>
          <a:noFill/>
        </p:spPr>
        <p:txBody>
          <a:bodyPr wrap="square">
            <a:spAutoFit/>
          </a:bodyPr>
          <a:lstStyle/>
          <a:p>
            <a:pPr algn="l"/>
            <a:r>
              <a:rPr sz="1600" b="0" i="0">
                <a:solidFill>
                  <a:srgbClr val="2C3E50"/>
                </a:solidFill>
              </a:rPr>
              <a:t>Researchers hand-code complex statistical algorithms</a:t>
            </a:r>
          </a:p>
        </p:txBody>
      </p:sp>
      <p:sp>
        <p:nvSpPr>
          <p:cNvPr id="23" name="Rectangle 22"/>
          <p:cNvSpPr/>
          <p:nvPr/>
        </p:nvSpPr>
        <p:spPr>
          <a:xfrm>
            <a:off x="7132320" y="4389120"/>
            <a:ext cx="4663440" cy="566928"/>
          </a:xfrm>
          <a:prstGeom prst="rect">
            <a:avLst/>
          </a:prstGeom>
          <a:solidFill>
            <a:srgbClr val="F8F9FA"/>
          </a:solidFill>
          <a:ln w="127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69480" y="4416552"/>
            <a:ext cx="4389120" cy="502920"/>
          </a:xfrm>
          <a:prstGeom prst="rect">
            <a:avLst/>
          </a:prstGeom>
          <a:noFill/>
        </p:spPr>
        <p:txBody>
          <a:bodyPr wrap="square">
            <a:spAutoFit/>
          </a:bodyPr>
          <a:lstStyle/>
          <a:p>
            <a:pPr algn="ctr"/>
            <a:r>
              <a:rPr sz="1500" b="1" i="0">
                <a:solidFill>
                  <a:srgbClr val="E74C3C"/>
                </a:solidFill>
              </a:rPr>
              <a:t>Error-prone, expertise-heavy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My Solution: A Custom PPL</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1274552" cy="457200"/>
          </a:xfrm>
          <a:prstGeom prst="rect">
            <a:avLst/>
          </a:prstGeom>
          <a:noFill/>
        </p:spPr>
        <p:txBody>
          <a:bodyPr wrap="square">
            <a:spAutoFit/>
          </a:bodyPr>
          <a:lstStyle/>
          <a:p>
            <a:pPr algn="ctr"/>
            <a:r>
              <a:rPr sz="2000" b="1" i="0">
                <a:solidFill>
                  <a:srgbClr val="2C3E50"/>
                </a:solidFill>
              </a:rPr>
              <a:t>Probabilistic Model  →  PPL System  →  Posterior Distribution</a:t>
            </a:r>
          </a:p>
        </p:txBody>
      </p:sp>
      <p:sp>
        <p:nvSpPr>
          <p:cNvPr id="8" name="Rectangle 7"/>
          <p:cNvSpPr/>
          <p:nvPr/>
        </p:nvSpPr>
        <p:spPr>
          <a:xfrm>
            <a:off x="274320" y="1828800"/>
            <a:ext cx="5303520" cy="192024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938528"/>
            <a:ext cx="5029200" cy="411480"/>
          </a:xfrm>
          <a:prstGeom prst="rect">
            <a:avLst/>
          </a:prstGeom>
          <a:noFill/>
        </p:spPr>
        <p:txBody>
          <a:bodyPr wrap="square">
            <a:spAutoFit/>
          </a:bodyPr>
          <a:lstStyle/>
          <a:p>
            <a:pPr algn="l"/>
            <a:r>
              <a:rPr sz="1800" b="1" i="0">
                <a:solidFill>
                  <a:srgbClr val="3498DB"/>
                </a:solidFill>
              </a:rPr>
              <a:t>✍️  Expressive Syntax</a:t>
            </a:r>
          </a:p>
        </p:txBody>
      </p:sp>
      <p:sp>
        <p:nvSpPr>
          <p:cNvPr id="10" name="TextBox 9"/>
          <p:cNvSpPr txBox="1"/>
          <p:nvPr/>
        </p:nvSpPr>
        <p:spPr>
          <a:xfrm>
            <a:off x="411480" y="2331720"/>
            <a:ext cx="5029200" cy="1188720"/>
          </a:xfrm>
          <a:prstGeom prst="rect">
            <a:avLst/>
          </a:prstGeom>
          <a:noFill/>
        </p:spPr>
        <p:txBody>
          <a:bodyPr wrap="square">
            <a:spAutoFit/>
          </a:bodyPr>
          <a:lstStyle/>
          <a:p>
            <a:pPr algn="l"/>
            <a:r>
              <a:rPr sz="1500" b="0" i="0">
                <a:solidFill>
                  <a:srgbClr val="2C3E50"/>
                </a:solidFill>
              </a:rPr>
              <a:t>sample() and observe() primitives
Abstract complexity away</a:t>
            </a:r>
          </a:p>
        </p:txBody>
      </p:sp>
      <p:sp>
        <p:nvSpPr>
          <p:cNvPr id="11" name="Rectangle 10"/>
          <p:cNvSpPr/>
          <p:nvPr/>
        </p:nvSpPr>
        <p:spPr>
          <a:xfrm>
            <a:off x="6400800" y="1828800"/>
            <a:ext cx="5303520" cy="192024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938528"/>
            <a:ext cx="5029200" cy="411480"/>
          </a:xfrm>
          <a:prstGeom prst="rect">
            <a:avLst/>
          </a:prstGeom>
          <a:noFill/>
        </p:spPr>
        <p:txBody>
          <a:bodyPr wrap="square">
            <a:spAutoFit/>
          </a:bodyPr>
          <a:lstStyle/>
          <a:p>
            <a:pPr algn="l"/>
            <a:r>
              <a:rPr sz="1800" b="1" i="0">
                <a:solidFill>
                  <a:srgbClr val="3498DB"/>
                </a:solidFill>
              </a:rPr>
              <a:t>📊  4 Distributions</a:t>
            </a:r>
          </a:p>
        </p:txBody>
      </p:sp>
      <p:sp>
        <p:nvSpPr>
          <p:cNvPr id="13" name="TextBox 12"/>
          <p:cNvSpPr txBox="1"/>
          <p:nvPr/>
        </p:nvSpPr>
        <p:spPr>
          <a:xfrm>
            <a:off x="6537960" y="2331720"/>
            <a:ext cx="5029200" cy="1188720"/>
          </a:xfrm>
          <a:prstGeom prst="rect">
            <a:avLst/>
          </a:prstGeom>
          <a:noFill/>
        </p:spPr>
        <p:txBody>
          <a:bodyPr wrap="square">
            <a:spAutoFit/>
          </a:bodyPr>
          <a:lstStyle/>
          <a:p>
            <a:pPr algn="l"/>
            <a:r>
              <a:rPr sz="1500" b="0" i="0">
                <a:solidFill>
                  <a:srgbClr val="2C3E50"/>
                </a:solidFill>
              </a:rPr>
              <a:t>Normal, Uniform,
Bernoulli, Exponential</a:t>
            </a:r>
          </a:p>
        </p:txBody>
      </p:sp>
      <p:sp>
        <p:nvSpPr>
          <p:cNvPr id="14" name="Rectangle 13"/>
          <p:cNvSpPr/>
          <p:nvPr/>
        </p:nvSpPr>
        <p:spPr>
          <a:xfrm>
            <a:off x="274320" y="3840480"/>
            <a:ext cx="5303520" cy="192024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3950208"/>
            <a:ext cx="5029200" cy="411480"/>
          </a:xfrm>
          <a:prstGeom prst="rect">
            <a:avLst/>
          </a:prstGeom>
          <a:noFill/>
        </p:spPr>
        <p:txBody>
          <a:bodyPr wrap="square">
            <a:spAutoFit/>
          </a:bodyPr>
          <a:lstStyle/>
          <a:p>
            <a:pPr algn="l"/>
            <a:r>
              <a:rPr sz="1800" b="1" i="0">
                <a:solidFill>
                  <a:srgbClr val="3498DB"/>
                </a:solidFill>
              </a:rPr>
              <a:t>🔄  2 Inference Algos</a:t>
            </a:r>
          </a:p>
        </p:txBody>
      </p:sp>
      <p:sp>
        <p:nvSpPr>
          <p:cNvPr id="16" name="TextBox 15"/>
          <p:cNvSpPr txBox="1"/>
          <p:nvPr/>
        </p:nvSpPr>
        <p:spPr>
          <a:xfrm>
            <a:off x="411480" y="4343400"/>
            <a:ext cx="5029200" cy="1188720"/>
          </a:xfrm>
          <a:prstGeom prst="rect">
            <a:avLst/>
          </a:prstGeom>
          <a:noFill/>
        </p:spPr>
        <p:txBody>
          <a:bodyPr wrap="square">
            <a:spAutoFit/>
          </a:bodyPr>
          <a:lstStyle/>
          <a:p>
            <a:pPr algn="l"/>
            <a:r>
              <a:rPr sz="1500" b="0" i="0">
                <a:solidFill>
                  <a:srgbClr val="2C3E50"/>
                </a:solidFill>
              </a:rPr>
              <a:t>Rejection Sampling
Importance Sampling</a:t>
            </a:r>
          </a:p>
        </p:txBody>
      </p:sp>
      <p:sp>
        <p:nvSpPr>
          <p:cNvPr id="17" name="Rectangle 16"/>
          <p:cNvSpPr/>
          <p:nvPr/>
        </p:nvSpPr>
        <p:spPr>
          <a:xfrm>
            <a:off x="6400800" y="3840480"/>
            <a:ext cx="5303520" cy="192024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3950208"/>
            <a:ext cx="5029200" cy="411480"/>
          </a:xfrm>
          <a:prstGeom prst="rect">
            <a:avLst/>
          </a:prstGeom>
          <a:noFill/>
        </p:spPr>
        <p:txBody>
          <a:bodyPr wrap="square">
            <a:spAutoFit/>
          </a:bodyPr>
          <a:lstStyle/>
          <a:p>
            <a:pPr algn="l"/>
            <a:r>
              <a:rPr sz="1800" b="1" i="0">
                <a:solidFill>
                  <a:srgbClr val="3498DB"/>
                </a:solidFill>
              </a:rPr>
              <a:t>📈  Auto Visualization</a:t>
            </a:r>
          </a:p>
        </p:txBody>
      </p:sp>
      <p:sp>
        <p:nvSpPr>
          <p:cNvPr id="19" name="TextBox 18"/>
          <p:cNvSpPr txBox="1"/>
          <p:nvPr/>
        </p:nvSpPr>
        <p:spPr>
          <a:xfrm>
            <a:off x="6537960" y="4343400"/>
            <a:ext cx="5029200" cy="1188720"/>
          </a:xfrm>
          <a:prstGeom prst="rect">
            <a:avLst/>
          </a:prstGeom>
          <a:noFill/>
        </p:spPr>
        <p:txBody>
          <a:bodyPr wrap="square">
            <a:spAutoFit/>
          </a:bodyPr>
          <a:lstStyle/>
          <a:p>
            <a:pPr algn="l"/>
            <a:r>
              <a:rPr sz="1500" b="0" i="0">
                <a:solidFill>
                  <a:srgbClr val="2C3E50"/>
                </a:solidFill>
              </a:rPr>
              <a:t>Interactive HTML charts
Effective Sample Size metrics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System Architecture</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1828800"/>
            <a:ext cx="1664208" cy="2011680"/>
          </a:xfrm>
          <a:prstGeom prst="rect">
            <a:avLst/>
          </a:prstGeom>
          <a:solidFill>
            <a:srgbClr val="3498DB"/>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938528"/>
            <a:ext cx="1572768" cy="594360"/>
          </a:xfrm>
          <a:prstGeom prst="rect">
            <a:avLst/>
          </a:prstGeom>
          <a:noFill/>
        </p:spPr>
        <p:txBody>
          <a:bodyPr wrap="square">
            <a:spAutoFit/>
          </a:bodyPr>
          <a:lstStyle/>
          <a:p>
            <a:pPr algn="ctr"/>
            <a:r>
              <a:rPr sz="1500" b="1" i="0">
                <a:solidFill>
                  <a:srgbClr val="FFFFFF"/>
                </a:solidFill>
              </a:rPr>
              <a:t>PPL
Code</a:t>
            </a:r>
          </a:p>
        </p:txBody>
      </p:sp>
      <p:sp>
        <p:nvSpPr>
          <p:cNvPr id="9" name="TextBox 8"/>
          <p:cNvSpPr txBox="1"/>
          <p:nvPr/>
        </p:nvSpPr>
        <p:spPr>
          <a:xfrm>
            <a:off x="274320" y="2578608"/>
            <a:ext cx="1572768" cy="1143000"/>
          </a:xfrm>
          <a:prstGeom prst="rect">
            <a:avLst/>
          </a:prstGeom>
          <a:noFill/>
        </p:spPr>
        <p:txBody>
          <a:bodyPr wrap="square">
            <a:spAutoFit/>
          </a:bodyPr>
          <a:lstStyle/>
          <a:p>
            <a:pPr algn="ctr"/>
            <a:r>
              <a:rPr sz="1200" b="0" i="0">
                <a:solidFill>
                  <a:srgbClr val="D5E8F5"/>
                </a:solidFill>
              </a:rPr>
              <a:t>.ppl
file</a:t>
            </a:r>
          </a:p>
        </p:txBody>
      </p:sp>
      <p:sp>
        <p:nvSpPr>
          <p:cNvPr id="10" name="TextBox 9"/>
          <p:cNvSpPr txBox="1"/>
          <p:nvPr/>
        </p:nvSpPr>
        <p:spPr>
          <a:xfrm>
            <a:off x="1920240" y="2606040"/>
            <a:ext cx="246888" cy="457200"/>
          </a:xfrm>
          <a:prstGeom prst="rect">
            <a:avLst/>
          </a:prstGeom>
          <a:noFill/>
        </p:spPr>
        <p:txBody>
          <a:bodyPr wrap="square">
            <a:spAutoFit/>
          </a:bodyPr>
          <a:lstStyle/>
          <a:p>
            <a:pPr algn="ctr"/>
            <a:r>
              <a:rPr sz="2200" b="1" i="0">
                <a:solidFill>
                  <a:srgbClr val="3498DB"/>
                </a:solidFill>
              </a:rPr>
              <a:t>→</a:t>
            </a:r>
          </a:p>
        </p:txBody>
      </p:sp>
      <p:sp>
        <p:nvSpPr>
          <p:cNvPr id="11" name="Rectangle 10"/>
          <p:cNvSpPr/>
          <p:nvPr/>
        </p:nvSpPr>
        <p:spPr>
          <a:xfrm>
            <a:off x="2093976" y="1828800"/>
            <a:ext cx="1664208" cy="2011680"/>
          </a:xfrm>
          <a:prstGeom prst="rect">
            <a:avLst/>
          </a:prstGeom>
          <a:solidFill>
            <a:srgbClr val="2C3E50"/>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39696" y="1938528"/>
            <a:ext cx="1572768" cy="594360"/>
          </a:xfrm>
          <a:prstGeom prst="rect">
            <a:avLst/>
          </a:prstGeom>
          <a:noFill/>
        </p:spPr>
        <p:txBody>
          <a:bodyPr wrap="square">
            <a:spAutoFit/>
          </a:bodyPr>
          <a:lstStyle/>
          <a:p>
            <a:pPr algn="ctr"/>
            <a:r>
              <a:rPr sz="1500" b="1" i="0">
                <a:solidFill>
                  <a:srgbClr val="FFFFFF"/>
                </a:solidFill>
              </a:rPr>
              <a:t>Lexer</a:t>
            </a:r>
          </a:p>
        </p:txBody>
      </p:sp>
      <p:sp>
        <p:nvSpPr>
          <p:cNvPr id="13" name="TextBox 12"/>
          <p:cNvSpPr txBox="1"/>
          <p:nvPr/>
        </p:nvSpPr>
        <p:spPr>
          <a:xfrm>
            <a:off x="2139696" y="2578608"/>
            <a:ext cx="1572768" cy="1143000"/>
          </a:xfrm>
          <a:prstGeom prst="rect">
            <a:avLst/>
          </a:prstGeom>
          <a:noFill/>
        </p:spPr>
        <p:txBody>
          <a:bodyPr wrap="square">
            <a:spAutoFit/>
          </a:bodyPr>
          <a:lstStyle/>
          <a:p>
            <a:pPr algn="ctr"/>
            <a:r>
              <a:rPr sz="1200" b="0" i="0">
                <a:solidFill>
                  <a:srgbClr val="D5E8F5"/>
                </a:solidFill>
              </a:rPr>
              <a:t>Tokenizes
source</a:t>
            </a:r>
          </a:p>
        </p:txBody>
      </p:sp>
      <p:sp>
        <p:nvSpPr>
          <p:cNvPr id="14" name="TextBox 13"/>
          <p:cNvSpPr txBox="1"/>
          <p:nvPr/>
        </p:nvSpPr>
        <p:spPr>
          <a:xfrm>
            <a:off x="3785616" y="2606040"/>
            <a:ext cx="246888" cy="457200"/>
          </a:xfrm>
          <a:prstGeom prst="rect">
            <a:avLst/>
          </a:prstGeom>
          <a:noFill/>
        </p:spPr>
        <p:txBody>
          <a:bodyPr wrap="square">
            <a:spAutoFit/>
          </a:bodyPr>
          <a:lstStyle/>
          <a:p>
            <a:pPr algn="ctr"/>
            <a:r>
              <a:rPr sz="2200" b="1" i="0">
                <a:solidFill>
                  <a:srgbClr val="3498DB"/>
                </a:solidFill>
              </a:rPr>
              <a:t>→</a:t>
            </a:r>
          </a:p>
        </p:txBody>
      </p:sp>
      <p:sp>
        <p:nvSpPr>
          <p:cNvPr id="15" name="Rectangle 14"/>
          <p:cNvSpPr/>
          <p:nvPr/>
        </p:nvSpPr>
        <p:spPr>
          <a:xfrm>
            <a:off x="3959352" y="1828800"/>
            <a:ext cx="1664208" cy="2011680"/>
          </a:xfrm>
          <a:prstGeom prst="rect">
            <a:avLst/>
          </a:prstGeom>
          <a:solidFill>
            <a:srgbClr val="2C3E50"/>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05072" y="1938528"/>
            <a:ext cx="1572768" cy="594360"/>
          </a:xfrm>
          <a:prstGeom prst="rect">
            <a:avLst/>
          </a:prstGeom>
          <a:noFill/>
        </p:spPr>
        <p:txBody>
          <a:bodyPr wrap="square">
            <a:spAutoFit/>
          </a:bodyPr>
          <a:lstStyle/>
          <a:p>
            <a:pPr algn="ctr"/>
            <a:r>
              <a:rPr sz="1500" b="1" i="0">
                <a:solidFill>
                  <a:srgbClr val="FFFFFF"/>
                </a:solidFill>
              </a:rPr>
              <a:t>Parser</a:t>
            </a:r>
          </a:p>
        </p:txBody>
      </p:sp>
      <p:sp>
        <p:nvSpPr>
          <p:cNvPr id="17" name="TextBox 16"/>
          <p:cNvSpPr txBox="1"/>
          <p:nvPr/>
        </p:nvSpPr>
        <p:spPr>
          <a:xfrm>
            <a:off x="4005072" y="2578608"/>
            <a:ext cx="1572768" cy="1143000"/>
          </a:xfrm>
          <a:prstGeom prst="rect">
            <a:avLst/>
          </a:prstGeom>
          <a:noFill/>
        </p:spPr>
        <p:txBody>
          <a:bodyPr wrap="square">
            <a:spAutoFit/>
          </a:bodyPr>
          <a:lstStyle/>
          <a:p>
            <a:pPr algn="ctr"/>
            <a:r>
              <a:rPr sz="1200" b="0" i="0">
                <a:solidFill>
                  <a:srgbClr val="D5E8F5"/>
                </a:solidFill>
              </a:rPr>
              <a:t>Builds AST
(recursive
descent)</a:t>
            </a:r>
          </a:p>
        </p:txBody>
      </p:sp>
      <p:sp>
        <p:nvSpPr>
          <p:cNvPr id="18" name="TextBox 17"/>
          <p:cNvSpPr txBox="1"/>
          <p:nvPr/>
        </p:nvSpPr>
        <p:spPr>
          <a:xfrm>
            <a:off x="5650992" y="2606040"/>
            <a:ext cx="246888" cy="457200"/>
          </a:xfrm>
          <a:prstGeom prst="rect">
            <a:avLst/>
          </a:prstGeom>
          <a:noFill/>
        </p:spPr>
        <p:txBody>
          <a:bodyPr wrap="square">
            <a:spAutoFit/>
          </a:bodyPr>
          <a:lstStyle/>
          <a:p>
            <a:pPr algn="ctr"/>
            <a:r>
              <a:rPr sz="2200" b="1" i="0">
                <a:solidFill>
                  <a:srgbClr val="3498DB"/>
                </a:solidFill>
              </a:rPr>
              <a:t>→</a:t>
            </a:r>
          </a:p>
        </p:txBody>
      </p:sp>
      <p:sp>
        <p:nvSpPr>
          <p:cNvPr id="19" name="Rectangle 18"/>
          <p:cNvSpPr/>
          <p:nvPr/>
        </p:nvSpPr>
        <p:spPr>
          <a:xfrm>
            <a:off x="5824728" y="1828800"/>
            <a:ext cx="1664208" cy="2011680"/>
          </a:xfrm>
          <a:prstGeom prst="rect">
            <a:avLst/>
          </a:prstGeom>
          <a:solidFill>
            <a:srgbClr val="2C3E50"/>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70448" y="1938528"/>
            <a:ext cx="1572768" cy="594360"/>
          </a:xfrm>
          <a:prstGeom prst="rect">
            <a:avLst/>
          </a:prstGeom>
          <a:noFill/>
        </p:spPr>
        <p:txBody>
          <a:bodyPr wrap="square">
            <a:spAutoFit/>
          </a:bodyPr>
          <a:lstStyle/>
          <a:p>
            <a:pPr algn="ctr"/>
            <a:r>
              <a:rPr sz="1500" b="1" i="0">
                <a:solidFill>
                  <a:srgbClr val="FFFFFF"/>
                </a:solidFill>
              </a:rPr>
              <a:t>Interpreter</a:t>
            </a:r>
          </a:p>
        </p:txBody>
      </p:sp>
      <p:sp>
        <p:nvSpPr>
          <p:cNvPr id="21" name="TextBox 20"/>
          <p:cNvSpPr txBox="1"/>
          <p:nvPr/>
        </p:nvSpPr>
        <p:spPr>
          <a:xfrm>
            <a:off x="5870448" y="2578608"/>
            <a:ext cx="1572768" cy="1143000"/>
          </a:xfrm>
          <a:prstGeom prst="rect">
            <a:avLst/>
          </a:prstGeom>
          <a:noFill/>
        </p:spPr>
        <p:txBody>
          <a:bodyPr wrap="square">
            <a:spAutoFit/>
          </a:bodyPr>
          <a:lstStyle/>
          <a:p>
            <a:pPr algn="ctr"/>
            <a:r>
              <a:rPr sz="1200" b="0" i="0">
                <a:solidFill>
                  <a:srgbClr val="D5E8F5"/>
                </a:solidFill>
              </a:rPr>
              <a:t>Executes,
tracks
log-prob</a:t>
            </a:r>
          </a:p>
        </p:txBody>
      </p:sp>
      <p:sp>
        <p:nvSpPr>
          <p:cNvPr id="22" name="TextBox 21"/>
          <p:cNvSpPr txBox="1"/>
          <p:nvPr/>
        </p:nvSpPr>
        <p:spPr>
          <a:xfrm>
            <a:off x="7516368" y="2606040"/>
            <a:ext cx="246888" cy="457200"/>
          </a:xfrm>
          <a:prstGeom prst="rect">
            <a:avLst/>
          </a:prstGeom>
          <a:noFill/>
        </p:spPr>
        <p:txBody>
          <a:bodyPr wrap="square">
            <a:spAutoFit/>
          </a:bodyPr>
          <a:lstStyle/>
          <a:p>
            <a:pPr algn="ctr"/>
            <a:r>
              <a:rPr sz="2200" b="1" i="0">
                <a:solidFill>
                  <a:srgbClr val="3498DB"/>
                </a:solidFill>
              </a:rPr>
              <a:t>→</a:t>
            </a:r>
          </a:p>
        </p:txBody>
      </p:sp>
      <p:sp>
        <p:nvSpPr>
          <p:cNvPr id="23" name="Rectangle 22"/>
          <p:cNvSpPr/>
          <p:nvPr/>
        </p:nvSpPr>
        <p:spPr>
          <a:xfrm>
            <a:off x="7690104" y="1828800"/>
            <a:ext cx="1664208" cy="2011680"/>
          </a:xfrm>
          <a:prstGeom prst="rect">
            <a:avLst/>
          </a:prstGeom>
          <a:solidFill>
            <a:srgbClr val="2C3E50"/>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35824" y="1938528"/>
            <a:ext cx="1572768" cy="594360"/>
          </a:xfrm>
          <a:prstGeom prst="rect">
            <a:avLst/>
          </a:prstGeom>
          <a:noFill/>
        </p:spPr>
        <p:txBody>
          <a:bodyPr wrap="square">
            <a:spAutoFit/>
          </a:bodyPr>
          <a:lstStyle/>
          <a:p>
            <a:pPr algn="ctr"/>
            <a:r>
              <a:rPr sz="1500" b="1" i="0">
                <a:solidFill>
                  <a:srgbClr val="FFFFFF"/>
                </a:solidFill>
              </a:rPr>
              <a:t>Inference
Engine</a:t>
            </a:r>
          </a:p>
        </p:txBody>
      </p:sp>
      <p:sp>
        <p:nvSpPr>
          <p:cNvPr id="25" name="TextBox 24"/>
          <p:cNvSpPr txBox="1"/>
          <p:nvPr/>
        </p:nvSpPr>
        <p:spPr>
          <a:xfrm>
            <a:off x="7735824" y="2578608"/>
            <a:ext cx="1572768" cy="1143000"/>
          </a:xfrm>
          <a:prstGeom prst="rect">
            <a:avLst/>
          </a:prstGeom>
          <a:noFill/>
        </p:spPr>
        <p:txBody>
          <a:bodyPr wrap="square">
            <a:spAutoFit/>
          </a:bodyPr>
          <a:lstStyle/>
          <a:p>
            <a:pPr algn="ctr"/>
            <a:r>
              <a:rPr sz="1200" b="0" i="0">
                <a:solidFill>
                  <a:srgbClr val="D5E8F5"/>
                </a:solidFill>
              </a:rPr>
              <a:t>Rejection /
Importance
Sampling</a:t>
            </a:r>
          </a:p>
        </p:txBody>
      </p:sp>
      <p:sp>
        <p:nvSpPr>
          <p:cNvPr id="26" name="TextBox 25"/>
          <p:cNvSpPr txBox="1"/>
          <p:nvPr/>
        </p:nvSpPr>
        <p:spPr>
          <a:xfrm>
            <a:off x="9381744" y="2606040"/>
            <a:ext cx="246888" cy="457200"/>
          </a:xfrm>
          <a:prstGeom prst="rect">
            <a:avLst/>
          </a:prstGeom>
          <a:noFill/>
        </p:spPr>
        <p:txBody>
          <a:bodyPr wrap="square">
            <a:spAutoFit/>
          </a:bodyPr>
          <a:lstStyle/>
          <a:p>
            <a:pPr algn="ctr"/>
            <a:r>
              <a:rPr sz="2200" b="1" i="0">
                <a:solidFill>
                  <a:srgbClr val="3498DB"/>
                </a:solidFill>
              </a:rPr>
              <a:t>→</a:t>
            </a:r>
          </a:p>
        </p:txBody>
      </p:sp>
      <p:sp>
        <p:nvSpPr>
          <p:cNvPr id="27" name="Rectangle 26"/>
          <p:cNvSpPr/>
          <p:nvPr/>
        </p:nvSpPr>
        <p:spPr>
          <a:xfrm>
            <a:off x="9555480" y="1828800"/>
            <a:ext cx="1664208" cy="2011680"/>
          </a:xfrm>
          <a:prstGeom prst="rect">
            <a:avLst/>
          </a:prstGeom>
          <a:solidFill>
            <a:srgbClr val="3498DB"/>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0" y="1938528"/>
            <a:ext cx="1572768" cy="594360"/>
          </a:xfrm>
          <a:prstGeom prst="rect">
            <a:avLst/>
          </a:prstGeom>
          <a:noFill/>
        </p:spPr>
        <p:txBody>
          <a:bodyPr wrap="square">
            <a:spAutoFit/>
          </a:bodyPr>
          <a:lstStyle/>
          <a:p>
            <a:pPr algn="ctr"/>
            <a:r>
              <a:rPr sz="1500" b="1" i="0">
                <a:solidFill>
                  <a:srgbClr val="FFFFFF"/>
                </a:solidFill>
              </a:rPr>
              <a:t>Results
&amp; Viz</a:t>
            </a:r>
          </a:p>
        </p:txBody>
      </p:sp>
      <p:sp>
        <p:nvSpPr>
          <p:cNvPr id="29" name="TextBox 28"/>
          <p:cNvSpPr txBox="1"/>
          <p:nvPr/>
        </p:nvSpPr>
        <p:spPr>
          <a:xfrm>
            <a:off x="9601200" y="2578608"/>
            <a:ext cx="1572768" cy="1143000"/>
          </a:xfrm>
          <a:prstGeom prst="rect">
            <a:avLst/>
          </a:prstGeom>
          <a:noFill/>
        </p:spPr>
        <p:txBody>
          <a:bodyPr wrap="square">
            <a:spAutoFit/>
          </a:bodyPr>
          <a:lstStyle/>
          <a:p>
            <a:pPr algn="ctr"/>
            <a:r>
              <a:rPr sz="1200" b="0" i="0">
                <a:solidFill>
                  <a:srgbClr val="D5E8F5"/>
                </a:solidFill>
              </a:rPr>
              <a:t>Weighted
samples
HTML charts</a:t>
            </a:r>
          </a:p>
        </p:txBody>
      </p:sp>
      <p:sp>
        <p:nvSpPr>
          <p:cNvPr id="30" name="Rectangle 29"/>
          <p:cNvSpPr/>
          <p:nvPr/>
        </p:nvSpPr>
        <p:spPr>
          <a:xfrm>
            <a:off x="274320" y="4069080"/>
            <a:ext cx="11640312" cy="658368"/>
          </a:xfrm>
          <a:prstGeom prst="rect">
            <a:avLst/>
          </a:prstGeom>
          <a:solidFill>
            <a:srgbClr val="EBF5FB"/>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4114800"/>
            <a:ext cx="11274552" cy="566928"/>
          </a:xfrm>
          <a:prstGeom prst="rect">
            <a:avLst/>
          </a:prstGeom>
          <a:noFill/>
        </p:spPr>
        <p:txBody>
          <a:bodyPr wrap="square">
            <a:spAutoFit/>
          </a:bodyPr>
          <a:lstStyle/>
          <a:p>
            <a:pPr algn="l"/>
            <a:r>
              <a:rPr sz="1600" b="0" i="0">
                <a:solidFill>
                  <a:srgbClr val="2C3E50"/>
                </a:solidFill>
              </a:rPr>
              <a:t>⚙  Key Design Decision: Log-probability arithmetic throughout — prevents numerical underflow when multiplying many small probabilities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Concrete Example: Height-Weight Model</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234440"/>
            <a:ext cx="5943600" cy="5212080"/>
          </a:xfrm>
          <a:prstGeom prst="rect">
            <a:avLst/>
          </a:prstGeom>
          <a:solidFill>
            <a:srgbClr val="1E2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669280" cy="5029200"/>
          </a:xfrm>
          <a:prstGeom prst="rect">
            <a:avLst/>
          </a:prstGeom>
          <a:noFill/>
        </p:spPr>
        <p:txBody>
          <a:bodyPr wrap="square">
            <a:spAutoFit/>
          </a:bodyPr>
          <a:lstStyle/>
          <a:p>
            <a:pPr algn="l"/>
            <a:r>
              <a:rPr sz="1300" b="0" i="0">
                <a:solidFill>
                  <a:srgbClr val="2ECC71"/>
                </a:solidFill>
              </a:rPr>
              <a:t># Prior belief about height
alpha  = sample(normal(-90, 50))
beta   = sample(normal(1.0, 0.5))
sigma  = sample(exponential(0.05))
# Observed data point
obs_height = 170
obs_weight = 70
# Likelihood
mu = alpha + beta * obs_height
observe(obs_weight, normal(mu, sigma))</a:t>
            </a:r>
          </a:p>
        </p:txBody>
      </p:sp>
      <p:sp>
        <p:nvSpPr>
          <p:cNvPr id="9" name="Rectangle 8"/>
          <p:cNvSpPr/>
          <p:nvPr/>
        </p:nvSpPr>
        <p:spPr>
          <a:xfrm>
            <a:off x="6492240" y="1371600"/>
            <a:ext cx="5394960" cy="1463040"/>
          </a:xfrm>
          <a:prstGeom prst="rect">
            <a:avLst/>
          </a:prstGeom>
          <a:solidFill>
            <a:srgbClr val="F0F4F8"/>
          </a:solidFill>
          <a:ln w="317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29400" y="1463040"/>
            <a:ext cx="5120640" cy="384048"/>
          </a:xfrm>
          <a:prstGeom prst="rect">
            <a:avLst/>
          </a:prstGeom>
          <a:noFill/>
        </p:spPr>
        <p:txBody>
          <a:bodyPr wrap="square">
            <a:spAutoFit/>
          </a:bodyPr>
          <a:lstStyle/>
          <a:p>
            <a:pPr algn="l"/>
            <a:r>
              <a:rPr sz="1700" b="1" i="0">
                <a:solidFill>
                  <a:srgbClr val="3498DB"/>
                </a:solidFill>
              </a:rPr>
              <a:t>Priors</a:t>
            </a:r>
          </a:p>
        </p:txBody>
      </p:sp>
      <p:sp>
        <p:nvSpPr>
          <p:cNvPr id="11" name="TextBox 10"/>
          <p:cNvSpPr txBox="1"/>
          <p:nvPr/>
        </p:nvSpPr>
        <p:spPr>
          <a:xfrm>
            <a:off x="6629400" y="1847088"/>
            <a:ext cx="5120640" cy="868680"/>
          </a:xfrm>
          <a:prstGeom prst="rect">
            <a:avLst/>
          </a:prstGeom>
          <a:noFill/>
        </p:spPr>
        <p:txBody>
          <a:bodyPr wrap="square">
            <a:spAutoFit/>
          </a:bodyPr>
          <a:lstStyle/>
          <a:p>
            <a:pPr algn="l"/>
            <a:r>
              <a:rPr sz="1400" b="0" i="0">
                <a:solidFill>
                  <a:srgbClr val="2C3E50"/>
                </a:solidFill>
              </a:rPr>
              <a:t>Weakly informative priors
based on CDC population statistics</a:t>
            </a:r>
          </a:p>
        </p:txBody>
      </p:sp>
      <p:sp>
        <p:nvSpPr>
          <p:cNvPr id="12" name="Rectangle 11"/>
          <p:cNvSpPr/>
          <p:nvPr/>
        </p:nvSpPr>
        <p:spPr>
          <a:xfrm>
            <a:off x="6492240" y="3017520"/>
            <a:ext cx="5394960" cy="1463040"/>
          </a:xfrm>
          <a:prstGeom prst="rect">
            <a:avLst/>
          </a:prstGeom>
          <a:solidFill>
            <a:srgbClr val="F0F4F8"/>
          </a:solidFill>
          <a:ln w="317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3108960"/>
            <a:ext cx="5120640" cy="384048"/>
          </a:xfrm>
          <a:prstGeom prst="rect">
            <a:avLst/>
          </a:prstGeom>
          <a:noFill/>
        </p:spPr>
        <p:txBody>
          <a:bodyPr wrap="square">
            <a:spAutoFit/>
          </a:bodyPr>
          <a:lstStyle/>
          <a:p>
            <a:pPr algn="l"/>
            <a:r>
              <a:rPr sz="1700" b="1" i="0">
                <a:solidFill>
                  <a:srgbClr val="27AE60"/>
                </a:solidFill>
              </a:rPr>
              <a:t>Observations</a:t>
            </a:r>
          </a:p>
        </p:txBody>
      </p:sp>
      <p:sp>
        <p:nvSpPr>
          <p:cNvPr id="14" name="TextBox 13"/>
          <p:cNvSpPr txBox="1"/>
          <p:nvPr/>
        </p:nvSpPr>
        <p:spPr>
          <a:xfrm>
            <a:off x="6629400" y="3493008"/>
            <a:ext cx="5120640" cy="868680"/>
          </a:xfrm>
          <a:prstGeom prst="rect">
            <a:avLst/>
          </a:prstGeom>
          <a:noFill/>
        </p:spPr>
        <p:txBody>
          <a:bodyPr wrap="square">
            <a:spAutoFit/>
          </a:bodyPr>
          <a:lstStyle/>
          <a:p>
            <a:pPr algn="l"/>
            <a:r>
              <a:rPr sz="1400" b="0" i="0">
                <a:solidFill>
                  <a:srgbClr val="2C3E50"/>
                </a:solidFill>
              </a:rPr>
              <a:t>Condition on a real
observed data point</a:t>
            </a:r>
          </a:p>
        </p:txBody>
      </p:sp>
      <p:sp>
        <p:nvSpPr>
          <p:cNvPr id="15" name="Rectangle 14"/>
          <p:cNvSpPr/>
          <p:nvPr/>
        </p:nvSpPr>
        <p:spPr>
          <a:xfrm>
            <a:off x="6492240" y="4663440"/>
            <a:ext cx="5394960" cy="1463040"/>
          </a:xfrm>
          <a:prstGeom prst="rect">
            <a:avLst/>
          </a:prstGeom>
          <a:solidFill>
            <a:srgbClr val="F0F4F8"/>
          </a:solidFill>
          <a:ln w="31750">
            <a:solidFill>
              <a:srgbClr val="2C3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754880"/>
            <a:ext cx="5120640" cy="384048"/>
          </a:xfrm>
          <a:prstGeom prst="rect">
            <a:avLst/>
          </a:prstGeom>
          <a:noFill/>
        </p:spPr>
        <p:txBody>
          <a:bodyPr wrap="square">
            <a:spAutoFit/>
          </a:bodyPr>
          <a:lstStyle/>
          <a:p>
            <a:pPr algn="l"/>
            <a:r>
              <a:rPr sz="1700" b="1" i="0">
                <a:solidFill>
                  <a:srgbClr val="2C3E50"/>
                </a:solidFill>
              </a:rPr>
              <a:t>Inference</a:t>
            </a:r>
          </a:p>
        </p:txBody>
      </p:sp>
      <p:sp>
        <p:nvSpPr>
          <p:cNvPr id="17" name="TextBox 16"/>
          <p:cNvSpPr txBox="1"/>
          <p:nvPr/>
        </p:nvSpPr>
        <p:spPr>
          <a:xfrm>
            <a:off x="6629400" y="5138928"/>
            <a:ext cx="5120640" cy="868680"/>
          </a:xfrm>
          <a:prstGeom prst="rect">
            <a:avLst/>
          </a:prstGeom>
          <a:noFill/>
        </p:spPr>
        <p:txBody>
          <a:bodyPr wrap="square">
            <a:spAutoFit/>
          </a:bodyPr>
          <a:lstStyle/>
          <a:p>
            <a:pPr algn="l"/>
            <a:r>
              <a:rPr sz="1400" b="0" i="0">
                <a:solidFill>
                  <a:srgbClr val="2C3E50"/>
                </a:solidFill>
              </a:rPr>
              <a:t>PPL infers alpha, beta, sigma
automatically via sampling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Two Inference Approaches</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682996" cy="530352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298448"/>
            <a:ext cx="5408676" cy="457200"/>
          </a:xfrm>
          <a:prstGeom prst="rect">
            <a:avLst/>
          </a:prstGeom>
          <a:noFill/>
        </p:spPr>
        <p:txBody>
          <a:bodyPr wrap="square">
            <a:spAutoFit/>
          </a:bodyPr>
          <a:lstStyle/>
          <a:p>
            <a:pPr algn="l"/>
            <a:r>
              <a:rPr sz="2000" b="1" i="0">
                <a:solidFill>
                  <a:srgbClr val="3498DB"/>
                </a:solidFill>
              </a:rPr>
              <a:t>Rejection Sampling</a:t>
            </a:r>
          </a:p>
        </p:txBody>
      </p:sp>
      <p:sp>
        <p:nvSpPr>
          <p:cNvPr id="9" name="TextBox 8"/>
          <p:cNvSpPr txBox="1"/>
          <p:nvPr/>
        </p:nvSpPr>
        <p:spPr>
          <a:xfrm>
            <a:off x="411480" y="1874519"/>
            <a:ext cx="5408676" cy="420624"/>
          </a:xfrm>
          <a:prstGeom prst="rect">
            <a:avLst/>
          </a:prstGeom>
          <a:noFill/>
        </p:spPr>
        <p:txBody>
          <a:bodyPr wrap="square">
            <a:spAutoFit/>
          </a:bodyPr>
          <a:lstStyle/>
          <a:p>
            <a:pPr algn="l"/>
            <a:r>
              <a:rPr sz="1400" b="0" i="0">
                <a:solidFill>
                  <a:srgbClr val="2C3E50"/>
                </a:solidFill>
              </a:rPr>
              <a:t>Method: Run program repeatedly;
  keep samples that meet condition</a:t>
            </a:r>
          </a:p>
        </p:txBody>
      </p:sp>
      <p:sp>
        <p:nvSpPr>
          <p:cNvPr id="10" name="TextBox 9"/>
          <p:cNvSpPr txBox="1"/>
          <p:nvPr/>
        </p:nvSpPr>
        <p:spPr>
          <a:xfrm>
            <a:off x="411480" y="2313431"/>
            <a:ext cx="5408676" cy="420624"/>
          </a:xfrm>
          <a:prstGeom prst="rect">
            <a:avLst/>
          </a:prstGeom>
          <a:noFill/>
        </p:spPr>
        <p:txBody>
          <a:bodyPr wrap="square">
            <a:spAutoFit/>
          </a:bodyPr>
          <a:lstStyle/>
          <a:p>
            <a:pPr algn="l"/>
            <a:r>
              <a:rPr sz="1400" b="0" i="0">
                <a:solidFill>
                  <a:srgbClr val="2C3E50"/>
                </a:solidFill>
              </a:rPr>
              <a:t>Pro: Exact conditional distribution</a:t>
            </a:r>
          </a:p>
        </p:txBody>
      </p:sp>
      <p:sp>
        <p:nvSpPr>
          <p:cNvPr id="11" name="TextBox 10"/>
          <p:cNvSpPr txBox="1"/>
          <p:nvPr/>
        </p:nvSpPr>
        <p:spPr>
          <a:xfrm>
            <a:off x="411480" y="2752343"/>
            <a:ext cx="5408676" cy="420624"/>
          </a:xfrm>
          <a:prstGeom prst="rect">
            <a:avLst/>
          </a:prstGeom>
          <a:noFill/>
        </p:spPr>
        <p:txBody>
          <a:bodyPr wrap="square">
            <a:spAutoFit/>
          </a:bodyPr>
          <a:lstStyle/>
          <a:p>
            <a:pPr algn="l"/>
            <a:r>
              <a:rPr sz="1400" b="0" i="0">
                <a:solidFill>
                  <a:srgbClr val="2C3E50"/>
                </a:solidFill>
              </a:rPr>
              <a:t>Con: Inefficient for rare events</a:t>
            </a:r>
          </a:p>
        </p:txBody>
      </p:sp>
      <p:sp>
        <p:nvSpPr>
          <p:cNvPr id="12" name="TextBox 11"/>
          <p:cNvSpPr txBox="1"/>
          <p:nvPr/>
        </p:nvSpPr>
        <p:spPr>
          <a:xfrm>
            <a:off x="411480" y="3191255"/>
            <a:ext cx="5408676" cy="420624"/>
          </a:xfrm>
          <a:prstGeom prst="rect">
            <a:avLst/>
          </a:prstGeom>
          <a:noFill/>
        </p:spPr>
        <p:txBody>
          <a:bodyPr wrap="square">
            <a:spAutoFit/>
          </a:bodyPr>
          <a:lstStyle/>
          <a:p>
            <a:pPr algn="l"/>
            <a:endParaRPr/>
          </a:p>
        </p:txBody>
      </p:sp>
      <p:sp>
        <p:nvSpPr>
          <p:cNvPr id="13" name="TextBox 12"/>
          <p:cNvSpPr txBox="1"/>
          <p:nvPr/>
        </p:nvSpPr>
        <p:spPr>
          <a:xfrm>
            <a:off x="411480" y="3630167"/>
            <a:ext cx="5408676" cy="420624"/>
          </a:xfrm>
          <a:prstGeom prst="rect">
            <a:avLst/>
          </a:prstGeom>
          <a:noFill/>
        </p:spPr>
        <p:txBody>
          <a:bodyPr wrap="square">
            <a:spAutoFit/>
          </a:bodyPr>
          <a:lstStyle/>
          <a:p>
            <a:pPr algn="l"/>
            <a:r>
              <a:rPr sz="1400" b="1" i="0">
                <a:solidFill>
                  <a:srgbClr val="2C3E50"/>
                </a:solidFill>
              </a:rPr>
              <a:t>Our Result:</a:t>
            </a:r>
          </a:p>
        </p:txBody>
      </p:sp>
      <p:sp>
        <p:nvSpPr>
          <p:cNvPr id="14" name="TextBox 13"/>
          <p:cNvSpPr txBox="1"/>
          <p:nvPr/>
        </p:nvSpPr>
        <p:spPr>
          <a:xfrm>
            <a:off x="411480" y="4069079"/>
            <a:ext cx="5408676" cy="420624"/>
          </a:xfrm>
          <a:prstGeom prst="rect">
            <a:avLst/>
          </a:prstGeom>
          <a:noFill/>
        </p:spPr>
        <p:txBody>
          <a:bodyPr wrap="square">
            <a:spAutoFit/>
          </a:bodyPr>
          <a:lstStyle/>
          <a:p>
            <a:pPr algn="l"/>
            <a:r>
              <a:rPr sz="1400" b="0" i="0">
                <a:solidFill>
                  <a:srgbClr val="2C3E50"/>
                </a:solidFill>
              </a:rPr>
              <a:t>  Acceptance rate: 15.70%</a:t>
            </a:r>
          </a:p>
        </p:txBody>
      </p:sp>
      <p:sp>
        <p:nvSpPr>
          <p:cNvPr id="15" name="TextBox 14"/>
          <p:cNvSpPr txBox="1"/>
          <p:nvPr/>
        </p:nvSpPr>
        <p:spPr>
          <a:xfrm>
            <a:off x="411480" y="4507991"/>
            <a:ext cx="5408676" cy="420624"/>
          </a:xfrm>
          <a:prstGeom prst="rect">
            <a:avLst/>
          </a:prstGeom>
          <a:noFill/>
        </p:spPr>
        <p:txBody>
          <a:bodyPr wrap="square">
            <a:spAutoFit/>
          </a:bodyPr>
          <a:lstStyle/>
          <a:p>
            <a:pPr algn="l"/>
            <a:r>
              <a:rPr sz="1400" b="0" i="0">
                <a:solidFill>
                  <a:srgbClr val="2C3E50"/>
                </a:solidFill>
              </a:rPr>
              <a:t>  Theory predicts: 15.87%</a:t>
            </a:r>
          </a:p>
        </p:txBody>
      </p:sp>
      <p:sp>
        <p:nvSpPr>
          <p:cNvPr id="16" name="TextBox 15"/>
          <p:cNvSpPr txBox="1"/>
          <p:nvPr/>
        </p:nvSpPr>
        <p:spPr>
          <a:xfrm>
            <a:off x="411480" y="4946903"/>
            <a:ext cx="5408676" cy="420624"/>
          </a:xfrm>
          <a:prstGeom prst="rect">
            <a:avLst/>
          </a:prstGeom>
          <a:noFill/>
        </p:spPr>
        <p:txBody>
          <a:bodyPr wrap="square">
            <a:spAutoFit/>
          </a:bodyPr>
          <a:lstStyle/>
          <a:p>
            <a:pPr algn="l"/>
            <a:r>
              <a:rPr sz="1400" b="1" i="0">
                <a:solidFill>
                  <a:srgbClr val="2C3E50"/>
                </a:solidFill>
              </a:rPr>
              <a:t>  Error: only 0.17%  ✅</a:t>
            </a:r>
          </a:p>
        </p:txBody>
      </p:sp>
      <p:sp>
        <p:nvSpPr>
          <p:cNvPr id="17" name="Rectangle 16"/>
          <p:cNvSpPr/>
          <p:nvPr/>
        </p:nvSpPr>
        <p:spPr>
          <a:xfrm>
            <a:off x="6094476" y="1188720"/>
            <a:ext cx="5682996" cy="5303520"/>
          </a:xfrm>
          <a:prstGeom prst="rect">
            <a:avLst/>
          </a:prstGeom>
          <a:solidFill>
            <a:srgbClr val="F0F4F8"/>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1636" y="1298448"/>
            <a:ext cx="5408676" cy="457200"/>
          </a:xfrm>
          <a:prstGeom prst="rect">
            <a:avLst/>
          </a:prstGeom>
          <a:noFill/>
        </p:spPr>
        <p:txBody>
          <a:bodyPr wrap="square">
            <a:spAutoFit/>
          </a:bodyPr>
          <a:lstStyle/>
          <a:p>
            <a:pPr algn="l"/>
            <a:r>
              <a:rPr sz="2000" b="1" i="0">
                <a:solidFill>
                  <a:srgbClr val="27AE60"/>
                </a:solidFill>
              </a:rPr>
              <a:t>Importance Sampling</a:t>
            </a:r>
          </a:p>
        </p:txBody>
      </p:sp>
      <p:sp>
        <p:nvSpPr>
          <p:cNvPr id="19" name="TextBox 18"/>
          <p:cNvSpPr txBox="1"/>
          <p:nvPr/>
        </p:nvSpPr>
        <p:spPr>
          <a:xfrm>
            <a:off x="6231636" y="1874519"/>
            <a:ext cx="5408676" cy="420624"/>
          </a:xfrm>
          <a:prstGeom prst="rect">
            <a:avLst/>
          </a:prstGeom>
          <a:noFill/>
        </p:spPr>
        <p:txBody>
          <a:bodyPr wrap="square">
            <a:spAutoFit/>
          </a:bodyPr>
          <a:lstStyle/>
          <a:p>
            <a:pPr algn="l"/>
            <a:r>
              <a:rPr sz="1400" b="0" i="0">
                <a:solidFill>
                  <a:srgbClr val="2C3E50"/>
                </a:solidFill>
              </a:rPr>
              <a:t>Method: Keep all samples;
  weight by likelihood of observations</a:t>
            </a:r>
          </a:p>
        </p:txBody>
      </p:sp>
      <p:sp>
        <p:nvSpPr>
          <p:cNvPr id="20" name="TextBox 19"/>
          <p:cNvSpPr txBox="1"/>
          <p:nvPr/>
        </p:nvSpPr>
        <p:spPr>
          <a:xfrm>
            <a:off x="6231636" y="2313431"/>
            <a:ext cx="5408676" cy="420624"/>
          </a:xfrm>
          <a:prstGeom prst="rect">
            <a:avLst/>
          </a:prstGeom>
          <a:noFill/>
        </p:spPr>
        <p:txBody>
          <a:bodyPr wrap="square">
            <a:spAutoFit/>
          </a:bodyPr>
          <a:lstStyle/>
          <a:p>
            <a:pPr algn="l"/>
            <a:r>
              <a:rPr sz="1400" b="0" i="0">
                <a:solidFill>
                  <a:srgbClr val="2C3E50"/>
                </a:solidFill>
              </a:rPr>
              <a:t>Pro: No samples wasted</a:t>
            </a:r>
          </a:p>
        </p:txBody>
      </p:sp>
      <p:sp>
        <p:nvSpPr>
          <p:cNvPr id="21" name="TextBox 20"/>
          <p:cNvSpPr txBox="1"/>
          <p:nvPr/>
        </p:nvSpPr>
        <p:spPr>
          <a:xfrm>
            <a:off x="6231636" y="2752343"/>
            <a:ext cx="5408676" cy="420624"/>
          </a:xfrm>
          <a:prstGeom prst="rect">
            <a:avLst/>
          </a:prstGeom>
          <a:noFill/>
        </p:spPr>
        <p:txBody>
          <a:bodyPr wrap="square">
            <a:spAutoFit/>
          </a:bodyPr>
          <a:lstStyle/>
          <a:p>
            <a:pPr algn="l"/>
            <a:r>
              <a:rPr sz="1400" b="0" i="0">
                <a:solidFill>
                  <a:srgbClr val="2C3E50"/>
                </a:solidFill>
              </a:rPr>
              <a:t>Con: Requires weight normalization
  (log-sum-exp for stability)</a:t>
            </a:r>
          </a:p>
        </p:txBody>
      </p:sp>
      <p:sp>
        <p:nvSpPr>
          <p:cNvPr id="22" name="TextBox 21"/>
          <p:cNvSpPr txBox="1"/>
          <p:nvPr/>
        </p:nvSpPr>
        <p:spPr>
          <a:xfrm>
            <a:off x="6231636" y="3191255"/>
            <a:ext cx="5408676" cy="420624"/>
          </a:xfrm>
          <a:prstGeom prst="rect">
            <a:avLst/>
          </a:prstGeom>
          <a:noFill/>
        </p:spPr>
        <p:txBody>
          <a:bodyPr wrap="square">
            <a:spAutoFit/>
          </a:bodyPr>
          <a:lstStyle/>
          <a:p>
            <a:pPr algn="l"/>
            <a:endParaRPr/>
          </a:p>
        </p:txBody>
      </p:sp>
      <p:sp>
        <p:nvSpPr>
          <p:cNvPr id="23" name="TextBox 22"/>
          <p:cNvSpPr txBox="1"/>
          <p:nvPr/>
        </p:nvSpPr>
        <p:spPr>
          <a:xfrm>
            <a:off x="6231636" y="3630167"/>
            <a:ext cx="5408676" cy="420624"/>
          </a:xfrm>
          <a:prstGeom prst="rect">
            <a:avLst/>
          </a:prstGeom>
          <a:noFill/>
        </p:spPr>
        <p:txBody>
          <a:bodyPr wrap="square">
            <a:spAutoFit/>
          </a:bodyPr>
          <a:lstStyle/>
          <a:p>
            <a:pPr algn="l"/>
            <a:r>
              <a:rPr sz="1400" b="1" i="0">
                <a:solidFill>
                  <a:srgbClr val="2C3E50"/>
                </a:solidFill>
              </a:rPr>
              <a:t>Our Result:</a:t>
            </a:r>
          </a:p>
        </p:txBody>
      </p:sp>
      <p:sp>
        <p:nvSpPr>
          <p:cNvPr id="24" name="TextBox 23"/>
          <p:cNvSpPr txBox="1"/>
          <p:nvPr/>
        </p:nvSpPr>
        <p:spPr>
          <a:xfrm>
            <a:off x="6231636" y="4069079"/>
            <a:ext cx="5408676" cy="420624"/>
          </a:xfrm>
          <a:prstGeom prst="rect">
            <a:avLst/>
          </a:prstGeom>
          <a:noFill/>
        </p:spPr>
        <p:txBody>
          <a:bodyPr wrap="square">
            <a:spAutoFit/>
          </a:bodyPr>
          <a:lstStyle/>
          <a:p>
            <a:pPr algn="l"/>
            <a:r>
              <a:rPr sz="1400" b="0" i="0">
                <a:solidFill>
                  <a:srgbClr val="2C3E50"/>
                </a:solidFill>
              </a:rPr>
              <a:t>  ESS: 44 / 5,000 (0.88%)</a:t>
            </a:r>
          </a:p>
        </p:txBody>
      </p:sp>
      <p:sp>
        <p:nvSpPr>
          <p:cNvPr id="25" name="TextBox 24"/>
          <p:cNvSpPr txBox="1"/>
          <p:nvPr/>
        </p:nvSpPr>
        <p:spPr>
          <a:xfrm>
            <a:off x="6231636" y="4507991"/>
            <a:ext cx="5408676" cy="420624"/>
          </a:xfrm>
          <a:prstGeom prst="rect">
            <a:avLst/>
          </a:prstGeom>
          <a:noFill/>
        </p:spPr>
        <p:txBody>
          <a:bodyPr wrap="square">
            <a:spAutoFit/>
          </a:bodyPr>
          <a:lstStyle/>
          <a:p>
            <a:pPr algn="l"/>
            <a:r>
              <a:rPr sz="1400" b="0" i="0">
                <a:solidFill>
                  <a:srgbClr val="2C3E50"/>
                </a:solidFill>
              </a:rPr>
              <a:t>  Note: 30-obs dataset — weight</a:t>
            </a:r>
          </a:p>
        </p:txBody>
      </p:sp>
      <p:sp>
        <p:nvSpPr>
          <p:cNvPr id="26" name="TextBox 25"/>
          <p:cNvSpPr txBox="1"/>
          <p:nvPr/>
        </p:nvSpPr>
        <p:spPr>
          <a:xfrm>
            <a:off x="6231636" y="4946903"/>
            <a:ext cx="5408676" cy="420624"/>
          </a:xfrm>
          <a:prstGeom prst="rect">
            <a:avLst/>
          </a:prstGeom>
          <a:noFill/>
        </p:spPr>
        <p:txBody>
          <a:bodyPr wrap="square">
            <a:spAutoFit/>
          </a:bodyPr>
          <a:lstStyle/>
          <a:p>
            <a:pPr algn="l"/>
            <a:r>
              <a:rPr sz="1400" b="1" i="0">
                <a:solidFill>
                  <a:srgbClr val="2C3E50"/>
                </a:solidFill>
              </a:rPr>
              <a:t>  collapse expected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Real-World Validation: NHANES Dataset</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234440"/>
            <a:ext cx="11640312" cy="6400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11274552" cy="548640"/>
          </a:xfrm>
          <a:prstGeom prst="rect">
            <a:avLst/>
          </a:prstGeom>
          <a:noFill/>
        </p:spPr>
        <p:txBody>
          <a:bodyPr wrap="square">
            <a:spAutoFit/>
          </a:bodyPr>
          <a:lstStyle/>
          <a:p>
            <a:pPr algn="ctr"/>
            <a:r>
              <a:rPr sz="1400" b="0" i="0">
                <a:solidFill>
                  <a:srgbClr val="FFFFFF"/>
                </a:solidFill>
              </a:rPr>
              <a:t>CDC NHANES 2009–2012  |  10,000 observations  |  76 variables  |  Filtered to 7,412 adults with complete height &amp; weight</a:t>
            </a:r>
          </a:p>
        </p:txBody>
      </p:sp>
      <p:sp>
        <p:nvSpPr>
          <p:cNvPr id="9" name="Rectangle 8"/>
          <p:cNvSpPr/>
          <p:nvPr/>
        </p:nvSpPr>
        <p:spPr>
          <a:xfrm>
            <a:off x="274320" y="2029968"/>
            <a:ext cx="2286000" cy="5486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2121408"/>
            <a:ext cx="2194560" cy="411480"/>
          </a:xfrm>
          <a:prstGeom prst="rect">
            <a:avLst/>
          </a:prstGeom>
          <a:noFill/>
        </p:spPr>
        <p:txBody>
          <a:bodyPr wrap="square">
            <a:spAutoFit/>
          </a:bodyPr>
          <a:lstStyle/>
          <a:p>
            <a:pPr algn="ctr"/>
            <a:r>
              <a:rPr sz="1400" b="1" i="0">
                <a:solidFill>
                  <a:srgbClr val="FFFFFF"/>
                </a:solidFill>
              </a:rPr>
              <a:t>Parameter</a:t>
            </a:r>
          </a:p>
        </p:txBody>
      </p:sp>
      <p:sp>
        <p:nvSpPr>
          <p:cNvPr id="11" name="Rectangle 10"/>
          <p:cNvSpPr/>
          <p:nvPr/>
        </p:nvSpPr>
        <p:spPr>
          <a:xfrm>
            <a:off x="2578608" y="2029968"/>
            <a:ext cx="2103120" cy="5486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24328" y="2121408"/>
            <a:ext cx="2011680" cy="411480"/>
          </a:xfrm>
          <a:prstGeom prst="rect">
            <a:avLst/>
          </a:prstGeom>
          <a:noFill/>
        </p:spPr>
        <p:txBody>
          <a:bodyPr wrap="square">
            <a:spAutoFit/>
          </a:bodyPr>
          <a:lstStyle/>
          <a:p>
            <a:pPr algn="ctr"/>
            <a:r>
              <a:rPr sz="1400" b="1" i="0">
                <a:solidFill>
                  <a:srgbClr val="FFFFFF"/>
                </a:solidFill>
              </a:rPr>
              <a:t>Posterior Mean</a:t>
            </a:r>
          </a:p>
        </p:txBody>
      </p:sp>
      <p:sp>
        <p:nvSpPr>
          <p:cNvPr id="13" name="Rectangle 12"/>
          <p:cNvSpPr/>
          <p:nvPr/>
        </p:nvSpPr>
        <p:spPr>
          <a:xfrm>
            <a:off x="4700016" y="2029968"/>
            <a:ext cx="2103120" cy="5486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45736" y="2121408"/>
            <a:ext cx="2011680" cy="411480"/>
          </a:xfrm>
          <a:prstGeom prst="rect">
            <a:avLst/>
          </a:prstGeom>
          <a:noFill/>
        </p:spPr>
        <p:txBody>
          <a:bodyPr wrap="square">
            <a:spAutoFit/>
          </a:bodyPr>
          <a:lstStyle/>
          <a:p>
            <a:pPr algn="ctr"/>
            <a:r>
              <a:rPr sz="1400" b="1" i="0">
                <a:solidFill>
                  <a:srgbClr val="FFFFFF"/>
                </a:solidFill>
              </a:rPr>
              <a:t>CDC Reference</a:t>
            </a:r>
          </a:p>
        </p:txBody>
      </p:sp>
      <p:sp>
        <p:nvSpPr>
          <p:cNvPr id="15" name="Rectangle 14"/>
          <p:cNvSpPr/>
          <p:nvPr/>
        </p:nvSpPr>
        <p:spPr>
          <a:xfrm>
            <a:off x="6821424" y="2029968"/>
            <a:ext cx="1371600" cy="5486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144" y="2121408"/>
            <a:ext cx="1280160" cy="411480"/>
          </a:xfrm>
          <a:prstGeom prst="rect">
            <a:avLst/>
          </a:prstGeom>
          <a:noFill/>
        </p:spPr>
        <p:txBody>
          <a:bodyPr wrap="square">
            <a:spAutoFit/>
          </a:bodyPr>
          <a:lstStyle/>
          <a:p>
            <a:pPr algn="ctr"/>
            <a:r>
              <a:rPr sz="1400" b="1" i="0">
                <a:solidFill>
                  <a:srgbClr val="FFFFFF"/>
                </a:solidFill>
              </a:rPr>
              <a:t>% Error</a:t>
            </a:r>
          </a:p>
        </p:txBody>
      </p:sp>
      <p:sp>
        <p:nvSpPr>
          <p:cNvPr id="17" name="Rectangle 16"/>
          <p:cNvSpPr/>
          <p:nvPr/>
        </p:nvSpPr>
        <p:spPr>
          <a:xfrm>
            <a:off x="8211312" y="2029968"/>
            <a:ext cx="1371600" cy="5486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57032" y="2121408"/>
            <a:ext cx="1280160" cy="411480"/>
          </a:xfrm>
          <a:prstGeom prst="rect">
            <a:avLst/>
          </a:prstGeom>
          <a:noFill/>
        </p:spPr>
        <p:txBody>
          <a:bodyPr wrap="square">
            <a:spAutoFit/>
          </a:bodyPr>
          <a:lstStyle/>
          <a:p>
            <a:pPr algn="ctr"/>
            <a:r>
              <a:rPr sz="1400" b="1" i="0">
                <a:solidFill>
                  <a:srgbClr val="FFFFFF"/>
                </a:solidFill>
              </a:rPr>
              <a:t>Status</a:t>
            </a:r>
          </a:p>
        </p:txBody>
      </p:sp>
      <p:sp>
        <p:nvSpPr>
          <p:cNvPr id="19" name="Rectangle 18"/>
          <p:cNvSpPr/>
          <p:nvPr/>
        </p:nvSpPr>
        <p:spPr>
          <a:xfrm>
            <a:off x="274320" y="2606040"/>
            <a:ext cx="228600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0040" y="2697480"/>
            <a:ext cx="2194560" cy="411480"/>
          </a:xfrm>
          <a:prstGeom prst="rect">
            <a:avLst/>
          </a:prstGeom>
          <a:noFill/>
        </p:spPr>
        <p:txBody>
          <a:bodyPr wrap="square">
            <a:spAutoFit/>
          </a:bodyPr>
          <a:lstStyle/>
          <a:p>
            <a:pPr algn="ctr"/>
            <a:r>
              <a:rPr sz="1400" b="0" i="0">
                <a:solidFill>
                  <a:srgbClr val="2C3E50"/>
                </a:solidFill>
              </a:rPr>
              <a:t>Alpha (intercept)</a:t>
            </a:r>
          </a:p>
        </p:txBody>
      </p:sp>
      <p:sp>
        <p:nvSpPr>
          <p:cNvPr id="21" name="Rectangle 20"/>
          <p:cNvSpPr/>
          <p:nvPr/>
        </p:nvSpPr>
        <p:spPr>
          <a:xfrm>
            <a:off x="2578608" y="2606040"/>
            <a:ext cx="210312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624328" y="2697480"/>
            <a:ext cx="2011680" cy="411480"/>
          </a:xfrm>
          <a:prstGeom prst="rect">
            <a:avLst/>
          </a:prstGeom>
          <a:noFill/>
        </p:spPr>
        <p:txBody>
          <a:bodyPr wrap="square">
            <a:spAutoFit/>
          </a:bodyPr>
          <a:lstStyle/>
          <a:p>
            <a:pPr algn="ctr"/>
            <a:r>
              <a:rPr sz="1400" b="0" i="0">
                <a:solidFill>
                  <a:srgbClr val="2C3E50"/>
                </a:solidFill>
              </a:rPr>
              <a:t>-98.46</a:t>
            </a:r>
          </a:p>
        </p:txBody>
      </p:sp>
      <p:sp>
        <p:nvSpPr>
          <p:cNvPr id="23" name="Rectangle 22"/>
          <p:cNvSpPr/>
          <p:nvPr/>
        </p:nvSpPr>
        <p:spPr>
          <a:xfrm>
            <a:off x="4700016" y="2606040"/>
            <a:ext cx="210312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45736" y="2697480"/>
            <a:ext cx="2011680" cy="411480"/>
          </a:xfrm>
          <a:prstGeom prst="rect">
            <a:avLst/>
          </a:prstGeom>
          <a:noFill/>
        </p:spPr>
        <p:txBody>
          <a:bodyPr wrap="square">
            <a:spAutoFit/>
          </a:bodyPr>
          <a:lstStyle/>
          <a:p>
            <a:pPr algn="ctr"/>
            <a:r>
              <a:rPr sz="1400" b="0" i="0">
                <a:solidFill>
                  <a:srgbClr val="2C3E50"/>
                </a:solidFill>
              </a:rPr>
              <a:t>-100</a:t>
            </a:r>
          </a:p>
        </p:txBody>
      </p:sp>
      <p:sp>
        <p:nvSpPr>
          <p:cNvPr id="25" name="Rectangle 24"/>
          <p:cNvSpPr/>
          <p:nvPr/>
        </p:nvSpPr>
        <p:spPr>
          <a:xfrm>
            <a:off x="6821424" y="2606040"/>
            <a:ext cx="137160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67144" y="2697480"/>
            <a:ext cx="1280160" cy="411480"/>
          </a:xfrm>
          <a:prstGeom prst="rect">
            <a:avLst/>
          </a:prstGeom>
          <a:noFill/>
        </p:spPr>
        <p:txBody>
          <a:bodyPr wrap="square">
            <a:spAutoFit/>
          </a:bodyPr>
          <a:lstStyle/>
          <a:p>
            <a:pPr algn="ctr"/>
            <a:r>
              <a:rPr sz="1400" b="0" i="0">
                <a:solidFill>
                  <a:srgbClr val="2C3E50"/>
                </a:solidFill>
              </a:rPr>
              <a:t>1.54%</a:t>
            </a:r>
          </a:p>
        </p:txBody>
      </p:sp>
      <p:sp>
        <p:nvSpPr>
          <p:cNvPr id="27" name="Rectangle 26"/>
          <p:cNvSpPr/>
          <p:nvPr/>
        </p:nvSpPr>
        <p:spPr>
          <a:xfrm>
            <a:off x="8211312" y="2606040"/>
            <a:ext cx="137160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57032" y="2697480"/>
            <a:ext cx="1280160" cy="411480"/>
          </a:xfrm>
          <a:prstGeom prst="rect">
            <a:avLst/>
          </a:prstGeom>
          <a:noFill/>
        </p:spPr>
        <p:txBody>
          <a:bodyPr wrap="square">
            <a:spAutoFit/>
          </a:bodyPr>
          <a:lstStyle/>
          <a:p>
            <a:pPr algn="ctr"/>
            <a:r>
              <a:rPr sz="1400" b="0" i="0">
                <a:solidFill>
                  <a:srgbClr val="27AE60"/>
                </a:solidFill>
              </a:rPr>
              <a:t>✅ PASS</a:t>
            </a:r>
          </a:p>
        </p:txBody>
      </p:sp>
      <p:sp>
        <p:nvSpPr>
          <p:cNvPr id="29" name="Rectangle 28"/>
          <p:cNvSpPr/>
          <p:nvPr/>
        </p:nvSpPr>
        <p:spPr>
          <a:xfrm>
            <a:off x="274320" y="3182112"/>
            <a:ext cx="2286000" cy="5486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3273552"/>
            <a:ext cx="2194560" cy="411480"/>
          </a:xfrm>
          <a:prstGeom prst="rect">
            <a:avLst/>
          </a:prstGeom>
          <a:noFill/>
        </p:spPr>
        <p:txBody>
          <a:bodyPr wrap="square">
            <a:spAutoFit/>
          </a:bodyPr>
          <a:lstStyle/>
          <a:p>
            <a:pPr algn="ctr"/>
            <a:r>
              <a:rPr sz="1400" b="0" i="0">
                <a:solidFill>
                  <a:srgbClr val="2C3E50"/>
                </a:solidFill>
              </a:rPr>
              <a:t>Beta  (kg/cm)</a:t>
            </a:r>
          </a:p>
        </p:txBody>
      </p:sp>
      <p:sp>
        <p:nvSpPr>
          <p:cNvPr id="31" name="Rectangle 30"/>
          <p:cNvSpPr/>
          <p:nvPr/>
        </p:nvSpPr>
        <p:spPr>
          <a:xfrm>
            <a:off x="2578608" y="3182112"/>
            <a:ext cx="2103120" cy="5486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24328" y="3273552"/>
            <a:ext cx="2011680" cy="411480"/>
          </a:xfrm>
          <a:prstGeom prst="rect">
            <a:avLst/>
          </a:prstGeom>
          <a:noFill/>
        </p:spPr>
        <p:txBody>
          <a:bodyPr wrap="square">
            <a:spAutoFit/>
          </a:bodyPr>
          <a:lstStyle/>
          <a:p>
            <a:pPr algn="ctr"/>
            <a:r>
              <a:rPr sz="1400" b="0" i="0">
                <a:solidFill>
                  <a:srgbClr val="2C3E50"/>
                </a:solidFill>
              </a:rPr>
              <a:t> 1.096</a:t>
            </a:r>
          </a:p>
        </p:txBody>
      </p:sp>
      <p:sp>
        <p:nvSpPr>
          <p:cNvPr id="33" name="Rectangle 32"/>
          <p:cNvSpPr/>
          <p:nvPr/>
        </p:nvSpPr>
        <p:spPr>
          <a:xfrm>
            <a:off x="4700016" y="3182112"/>
            <a:ext cx="2103120" cy="5486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45736" y="3273552"/>
            <a:ext cx="2011680" cy="411480"/>
          </a:xfrm>
          <a:prstGeom prst="rect">
            <a:avLst/>
          </a:prstGeom>
          <a:noFill/>
        </p:spPr>
        <p:txBody>
          <a:bodyPr wrap="square">
            <a:spAutoFit/>
          </a:bodyPr>
          <a:lstStyle/>
          <a:p>
            <a:pPr algn="ctr"/>
            <a:r>
              <a:rPr sz="1400" b="0" i="0">
                <a:solidFill>
                  <a:srgbClr val="2C3E50"/>
                </a:solidFill>
              </a:rPr>
              <a:t>  1.1</a:t>
            </a:r>
          </a:p>
        </p:txBody>
      </p:sp>
      <p:sp>
        <p:nvSpPr>
          <p:cNvPr id="35" name="Rectangle 34"/>
          <p:cNvSpPr/>
          <p:nvPr/>
        </p:nvSpPr>
        <p:spPr>
          <a:xfrm>
            <a:off x="6821424" y="3182112"/>
            <a:ext cx="1371600" cy="5486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67144" y="3273552"/>
            <a:ext cx="1280160" cy="411480"/>
          </a:xfrm>
          <a:prstGeom prst="rect">
            <a:avLst/>
          </a:prstGeom>
          <a:noFill/>
        </p:spPr>
        <p:txBody>
          <a:bodyPr wrap="square">
            <a:spAutoFit/>
          </a:bodyPr>
          <a:lstStyle/>
          <a:p>
            <a:pPr algn="ctr"/>
            <a:r>
              <a:rPr sz="1400" b="0" i="0">
                <a:solidFill>
                  <a:srgbClr val="2C3E50"/>
                </a:solidFill>
              </a:rPr>
              <a:t>0.37%</a:t>
            </a:r>
          </a:p>
        </p:txBody>
      </p:sp>
      <p:sp>
        <p:nvSpPr>
          <p:cNvPr id="37" name="Rectangle 36"/>
          <p:cNvSpPr/>
          <p:nvPr/>
        </p:nvSpPr>
        <p:spPr>
          <a:xfrm>
            <a:off x="8211312" y="3182112"/>
            <a:ext cx="1371600" cy="5486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57032" y="3273552"/>
            <a:ext cx="1280160" cy="411480"/>
          </a:xfrm>
          <a:prstGeom prst="rect">
            <a:avLst/>
          </a:prstGeom>
          <a:noFill/>
        </p:spPr>
        <p:txBody>
          <a:bodyPr wrap="square">
            <a:spAutoFit/>
          </a:bodyPr>
          <a:lstStyle/>
          <a:p>
            <a:pPr algn="ctr"/>
            <a:r>
              <a:rPr sz="1400" b="0" i="0">
                <a:solidFill>
                  <a:srgbClr val="27AE60"/>
                </a:solidFill>
              </a:rPr>
              <a:t>✅ PASS</a:t>
            </a:r>
          </a:p>
        </p:txBody>
      </p:sp>
      <p:sp>
        <p:nvSpPr>
          <p:cNvPr id="39" name="Rectangle 38"/>
          <p:cNvSpPr/>
          <p:nvPr/>
        </p:nvSpPr>
        <p:spPr>
          <a:xfrm>
            <a:off x="274320" y="3758184"/>
            <a:ext cx="228600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0040" y="3849624"/>
            <a:ext cx="2194560" cy="411480"/>
          </a:xfrm>
          <a:prstGeom prst="rect">
            <a:avLst/>
          </a:prstGeom>
          <a:noFill/>
        </p:spPr>
        <p:txBody>
          <a:bodyPr wrap="square">
            <a:spAutoFit/>
          </a:bodyPr>
          <a:lstStyle/>
          <a:p>
            <a:pPr algn="ctr"/>
            <a:r>
              <a:rPr sz="1400" b="0" i="0">
                <a:solidFill>
                  <a:srgbClr val="2C3E50"/>
                </a:solidFill>
              </a:rPr>
              <a:t>Sigma (kg)</a:t>
            </a:r>
          </a:p>
        </p:txBody>
      </p:sp>
      <p:sp>
        <p:nvSpPr>
          <p:cNvPr id="41" name="Rectangle 40"/>
          <p:cNvSpPr/>
          <p:nvPr/>
        </p:nvSpPr>
        <p:spPr>
          <a:xfrm>
            <a:off x="2578608" y="3758184"/>
            <a:ext cx="210312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624328" y="3849624"/>
            <a:ext cx="2011680" cy="411480"/>
          </a:xfrm>
          <a:prstGeom prst="rect">
            <a:avLst/>
          </a:prstGeom>
          <a:noFill/>
        </p:spPr>
        <p:txBody>
          <a:bodyPr wrap="square">
            <a:spAutoFit/>
          </a:bodyPr>
          <a:lstStyle/>
          <a:p>
            <a:pPr algn="ctr"/>
            <a:r>
              <a:rPr sz="1400" b="0" i="0">
                <a:solidFill>
                  <a:srgbClr val="2C3E50"/>
                </a:solidFill>
              </a:rPr>
              <a:t>19.02</a:t>
            </a:r>
          </a:p>
        </p:txBody>
      </p:sp>
      <p:sp>
        <p:nvSpPr>
          <p:cNvPr id="43" name="Rectangle 42"/>
          <p:cNvSpPr/>
          <p:nvPr/>
        </p:nvSpPr>
        <p:spPr>
          <a:xfrm>
            <a:off x="4700016" y="3758184"/>
            <a:ext cx="210312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45736" y="3849624"/>
            <a:ext cx="2011680" cy="411480"/>
          </a:xfrm>
          <a:prstGeom prst="rect">
            <a:avLst/>
          </a:prstGeom>
          <a:noFill/>
        </p:spPr>
        <p:txBody>
          <a:bodyPr wrap="square">
            <a:spAutoFit/>
          </a:bodyPr>
          <a:lstStyle/>
          <a:p>
            <a:pPr algn="ctr"/>
            <a:r>
              <a:rPr sz="1400" b="0" i="0">
                <a:solidFill>
                  <a:srgbClr val="2C3E50"/>
                </a:solidFill>
              </a:rPr>
              <a:t>~17–21*</a:t>
            </a:r>
          </a:p>
        </p:txBody>
      </p:sp>
      <p:sp>
        <p:nvSpPr>
          <p:cNvPr id="45" name="Rectangle 44"/>
          <p:cNvSpPr/>
          <p:nvPr/>
        </p:nvSpPr>
        <p:spPr>
          <a:xfrm>
            <a:off x="6821424" y="3758184"/>
            <a:ext cx="137160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867144" y="3849624"/>
            <a:ext cx="1280160" cy="411480"/>
          </a:xfrm>
          <a:prstGeom prst="rect">
            <a:avLst/>
          </a:prstGeom>
          <a:noFill/>
        </p:spPr>
        <p:txBody>
          <a:bodyPr wrap="square">
            <a:spAutoFit/>
          </a:bodyPr>
          <a:lstStyle/>
          <a:p>
            <a:pPr algn="ctr"/>
            <a:r>
              <a:rPr sz="1400" b="0" i="0">
                <a:solidFill>
                  <a:srgbClr val="2C3E50"/>
                </a:solidFill>
              </a:rPr>
              <a:t>18.86%</a:t>
            </a:r>
          </a:p>
        </p:txBody>
      </p:sp>
      <p:sp>
        <p:nvSpPr>
          <p:cNvPr id="47" name="Rectangle 46"/>
          <p:cNvSpPr/>
          <p:nvPr/>
        </p:nvSpPr>
        <p:spPr>
          <a:xfrm>
            <a:off x="8211312" y="3758184"/>
            <a:ext cx="1371600" cy="548640"/>
          </a:xfrm>
          <a:prstGeom prst="rect">
            <a:avLst/>
          </a:prstGeom>
          <a:solidFill>
            <a:srgbClr val="F0F4F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57032" y="3849624"/>
            <a:ext cx="1280160" cy="411480"/>
          </a:xfrm>
          <a:prstGeom prst="rect">
            <a:avLst/>
          </a:prstGeom>
          <a:noFill/>
        </p:spPr>
        <p:txBody>
          <a:bodyPr wrap="square">
            <a:spAutoFit/>
          </a:bodyPr>
          <a:lstStyle/>
          <a:p>
            <a:pPr algn="ctr"/>
            <a:r>
              <a:rPr sz="1400" b="0" i="0">
                <a:solidFill>
                  <a:srgbClr val="27AE60"/>
                </a:solidFill>
              </a:rPr>
              <a:t>✅ PASS</a:t>
            </a:r>
          </a:p>
        </p:txBody>
      </p:sp>
      <p:sp>
        <p:nvSpPr>
          <p:cNvPr id="49" name="Rectangle 48"/>
          <p:cNvSpPr/>
          <p:nvPr/>
        </p:nvSpPr>
        <p:spPr>
          <a:xfrm>
            <a:off x="274320" y="4334256"/>
            <a:ext cx="2286000" cy="548640"/>
          </a:xfrm>
          <a:prstGeom prst="rect">
            <a:avLst/>
          </a:prstGeom>
          <a:solidFill>
            <a:srgbClr val="D5F5E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20040" y="4425696"/>
            <a:ext cx="2194560" cy="411480"/>
          </a:xfrm>
          <a:prstGeom prst="rect">
            <a:avLst/>
          </a:prstGeom>
          <a:noFill/>
        </p:spPr>
        <p:txBody>
          <a:bodyPr wrap="square">
            <a:spAutoFit/>
          </a:bodyPr>
          <a:lstStyle/>
          <a:p>
            <a:pPr algn="ctr"/>
            <a:r>
              <a:rPr sz="1400" b="1" i="0">
                <a:solidFill>
                  <a:srgbClr val="2C3E50"/>
                </a:solidFill>
              </a:rPr>
              <a:t>Average Error</a:t>
            </a:r>
          </a:p>
        </p:txBody>
      </p:sp>
      <p:sp>
        <p:nvSpPr>
          <p:cNvPr id="51" name="Rectangle 50"/>
          <p:cNvSpPr/>
          <p:nvPr/>
        </p:nvSpPr>
        <p:spPr>
          <a:xfrm>
            <a:off x="2578608" y="4334256"/>
            <a:ext cx="2103120" cy="548640"/>
          </a:xfrm>
          <a:prstGeom prst="rect">
            <a:avLst/>
          </a:prstGeom>
          <a:solidFill>
            <a:srgbClr val="D5F5E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624328" y="4425696"/>
            <a:ext cx="2011680" cy="411480"/>
          </a:xfrm>
          <a:prstGeom prst="rect">
            <a:avLst/>
          </a:prstGeom>
          <a:noFill/>
        </p:spPr>
        <p:txBody>
          <a:bodyPr wrap="square">
            <a:spAutoFit/>
          </a:bodyPr>
          <a:lstStyle/>
          <a:p>
            <a:pPr algn="ctr"/>
            <a:endParaRPr/>
          </a:p>
        </p:txBody>
      </p:sp>
      <p:sp>
        <p:nvSpPr>
          <p:cNvPr id="53" name="Rectangle 52"/>
          <p:cNvSpPr/>
          <p:nvPr/>
        </p:nvSpPr>
        <p:spPr>
          <a:xfrm>
            <a:off x="4700016" y="4334256"/>
            <a:ext cx="2103120" cy="548640"/>
          </a:xfrm>
          <a:prstGeom prst="rect">
            <a:avLst/>
          </a:prstGeom>
          <a:solidFill>
            <a:srgbClr val="D5F5E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745736" y="4425696"/>
            <a:ext cx="2011680" cy="411480"/>
          </a:xfrm>
          <a:prstGeom prst="rect">
            <a:avLst/>
          </a:prstGeom>
          <a:noFill/>
        </p:spPr>
        <p:txBody>
          <a:bodyPr wrap="square">
            <a:spAutoFit/>
          </a:bodyPr>
          <a:lstStyle/>
          <a:p>
            <a:pPr algn="ctr"/>
            <a:endParaRPr/>
          </a:p>
        </p:txBody>
      </p:sp>
      <p:sp>
        <p:nvSpPr>
          <p:cNvPr id="55" name="Rectangle 54"/>
          <p:cNvSpPr/>
          <p:nvPr/>
        </p:nvSpPr>
        <p:spPr>
          <a:xfrm>
            <a:off x="6821424" y="4334256"/>
            <a:ext cx="1371600" cy="548640"/>
          </a:xfrm>
          <a:prstGeom prst="rect">
            <a:avLst/>
          </a:prstGeom>
          <a:solidFill>
            <a:srgbClr val="D5F5E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867144" y="4425696"/>
            <a:ext cx="1280160" cy="411480"/>
          </a:xfrm>
          <a:prstGeom prst="rect">
            <a:avLst/>
          </a:prstGeom>
          <a:noFill/>
        </p:spPr>
        <p:txBody>
          <a:bodyPr wrap="square">
            <a:spAutoFit/>
          </a:bodyPr>
          <a:lstStyle/>
          <a:p>
            <a:pPr algn="ctr"/>
            <a:r>
              <a:rPr sz="1400" b="1" i="0">
                <a:solidFill>
                  <a:srgbClr val="2C3E50"/>
                </a:solidFill>
              </a:rPr>
              <a:t>6.93%</a:t>
            </a:r>
          </a:p>
        </p:txBody>
      </p:sp>
      <p:sp>
        <p:nvSpPr>
          <p:cNvPr id="57" name="Rectangle 56"/>
          <p:cNvSpPr/>
          <p:nvPr/>
        </p:nvSpPr>
        <p:spPr>
          <a:xfrm>
            <a:off x="8211312" y="4334256"/>
            <a:ext cx="1371600" cy="548640"/>
          </a:xfrm>
          <a:prstGeom prst="rect">
            <a:avLst/>
          </a:prstGeom>
          <a:solidFill>
            <a:srgbClr val="D5F5E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257032" y="4425696"/>
            <a:ext cx="1280160" cy="411480"/>
          </a:xfrm>
          <a:prstGeom prst="rect">
            <a:avLst/>
          </a:prstGeom>
          <a:noFill/>
        </p:spPr>
        <p:txBody>
          <a:bodyPr wrap="square">
            <a:spAutoFit/>
          </a:bodyPr>
          <a:lstStyle/>
          <a:p>
            <a:pPr algn="ctr"/>
            <a:r>
              <a:rPr sz="1400" b="1" i="0">
                <a:solidFill>
                  <a:srgbClr val="27AE60"/>
                </a:solidFill>
              </a:rPr>
              <a:t>✅ PASS</a:t>
            </a:r>
          </a:p>
        </p:txBody>
      </p:sp>
      <p:sp>
        <p:nvSpPr>
          <p:cNvPr id="59" name="TextBox 58"/>
          <p:cNvSpPr txBox="1"/>
          <p:nvPr/>
        </p:nvSpPr>
        <p:spPr>
          <a:xfrm>
            <a:off x="274320" y="6172200"/>
            <a:ext cx="11640312" cy="411480"/>
          </a:xfrm>
          <a:prstGeom prst="rect">
            <a:avLst/>
          </a:prstGeom>
          <a:noFill/>
        </p:spPr>
        <p:txBody>
          <a:bodyPr wrap="square">
            <a:spAutoFit/>
          </a:bodyPr>
          <a:lstStyle/>
          <a:p>
            <a:pPr algn="l"/>
            <a:r>
              <a:rPr sz="1100" b="0" i="1">
                <a:solidFill>
                  <a:srgbClr val="7F8C8D"/>
                </a:solidFill>
              </a:rPr>
              <a:t>* Sigma is inflated due to pooling both sexes without a gender covariate — between-group variance raises residual std from ~12 kg (single sex) to ~17–21 kg (combined).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Technical Challenges &amp; Solutions</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25880"/>
            <a:ext cx="5760720" cy="242316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417320"/>
            <a:ext cx="5486400" cy="384048"/>
          </a:xfrm>
          <a:prstGeom prst="rect">
            <a:avLst/>
          </a:prstGeom>
          <a:noFill/>
        </p:spPr>
        <p:txBody>
          <a:bodyPr wrap="square">
            <a:spAutoFit/>
          </a:bodyPr>
          <a:lstStyle/>
          <a:p>
            <a:pPr algn="l"/>
            <a:r>
              <a:rPr sz="1700" b="1" i="0">
                <a:solidFill>
                  <a:srgbClr val="3498DB"/>
                </a:solidFill>
              </a:rPr>
              <a:t>🔢  Numerical Underflow</a:t>
            </a:r>
          </a:p>
        </p:txBody>
      </p:sp>
      <p:sp>
        <p:nvSpPr>
          <p:cNvPr id="9" name="TextBox 8"/>
          <p:cNvSpPr txBox="1"/>
          <p:nvPr/>
        </p:nvSpPr>
        <p:spPr>
          <a:xfrm>
            <a:off x="411480" y="1856232"/>
            <a:ext cx="5486400" cy="640080"/>
          </a:xfrm>
          <a:prstGeom prst="rect">
            <a:avLst/>
          </a:prstGeom>
          <a:noFill/>
        </p:spPr>
        <p:txBody>
          <a:bodyPr wrap="square">
            <a:spAutoFit/>
          </a:bodyPr>
          <a:lstStyle/>
          <a:p>
            <a:pPr algn="l"/>
            <a:r>
              <a:rPr sz="1300" b="0" i="1">
                <a:solidFill>
                  <a:srgbClr val="E74C3C"/>
                </a:solidFill>
              </a:rPr>
              <a:t>Problem: Multiplying many small probabilities → 0.0</a:t>
            </a:r>
          </a:p>
        </p:txBody>
      </p:sp>
      <p:sp>
        <p:nvSpPr>
          <p:cNvPr id="10" name="TextBox 9"/>
          <p:cNvSpPr txBox="1"/>
          <p:nvPr/>
        </p:nvSpPr>
        <p:spPr>
          <a:xfrm>
            <a:off x="411480" y="2468880"/>
            <a:ext cx="5486400" cy="1097280"/>
          </a:xfrm>
          <a:prstGeom prst="rect">
            <a:avLst/>
          </a:prstGeom>
          <a:noFill/>
        </p:spPr>
        <p:txBody>
          <a:bodyPr wrap="square">
            <a:spAutoFit/>
          </a:bodyPr>
          <a:lstStyle/>
          <a:p>
            <a:pPr algn="l"/>
            <a:r>
              <a:rPr sz="1300" b="0" i="0">
                <a:solidFill>
                  <a:srgbClr val="2C3E50"/>
                </a:solidFill>
              </a:rPr>
              <a:t>Solution: Log-space arithmetic: multiply → add
Prevents underflow regardless of sample count</a:t>
            </a:r>
          </a:p>
        </p:txBody>
      </p:sp>
      <p:sp>
        <p:nvSpPr>
          <p:cNvPr id="11" name="Rectangle 10"/>
          <p:cNvSpPr/>
          <p:nvPr/>
        </p:nvSpPr>
        <p:spPr>
          <a:xfrm>
            <a:off x="6263640" y="1325880"/>
            <a:ext cx="5760720" cy="2423160"/>
          </a:xfrm>
          <a:prstGeom prst="rect">
            <a:avLst/>
          </a:prstGeom>
          <a:solidFill>
            <a:srgbClr val="F0F4F8"/>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417320"/>
            <a:ext cx="5486400" cy="384048"/>
          </a:xfrm>
          <a:prstGeom prst="rect">
            <a:avLst/>
          </a:prstGeom>
          <a:noFill/>
        </p:spPr>
        <p:txBody>
          <a:bodyPr wrap="square">
            <a:spAutoFit/>
          </a:bodyPr>
          <a:lstStyle/>
          <a:p>
            <a:pPr algn="l"/>
            <a:r>
              <a:rPr sz="1700" b="1" i="0">
                <a:solidFill>
                  <a:srgbClr val="27AE60"/>
                </a:solidFill>
              </a:rPr>
              <a:t>🌳  Parser Operator Precedence</a:t>
            </a:r>
          </a:p>
        </p:txBody>
      </p:sp>
      <p:sp>
        <p:nvSpPr>
          <p:cNvPr id="13" name="TextBox 12"/>
          <p:cNvSpPr txBox="1"/>
          <p:nvPr/>
        </p:nvSpPr>
        <p:spPr>
          <a:xfrm>
            <a:off x="6400800" y="1856232"/>
            <a:ext cx="5486400" cy="640080"/>
          </a:xfrm>
          <a:prstGeom prst="rect">
            <a:avLst/>
          </a:prstGeom>
          <a:noFill/>
        </p:spPr>
        <p:txBody>
          <a:bodyPr wrap="square">
            <a:spAutoFit/>
          </a:bodyPr>
          <a:lstStyle/>
          <a:p>
            <a:pPr algn="l"/>
            <a:r>
              <a:rPr sz="1300" b="0" i="1">
                <a:solidFill>
                  <a:srgbClr val="E74C3C"/>
                </a:solidFill>
              </a:rPr>
              <a:t>Problem: Ambiguous parsing of -90 in normal(-90, 50)</a:t>
            </a:r>
          </a:p>
        </p:txBody>
      </p:sp>
      <p:sp>
        <p:nvSpPr>
          <p:cNvPr id="14" name="TextBox 13"/>
          <p:cNvSpPr txBox="1"/>
          <p:nvPr/>
        </p:nvSpPr>
        <p:spPr>
          <a:xfrm>
            <a:off x="6400800" y="2468880"/>
            <a:ext cx="5486400" cy="1097280"/>
          </a:xfrm>
          <a:prstGeom prst="rect">
            <a:avLst/>
          </a:prstGeom>
          <a:noFill/>
        </p:spPr>
        <p:txBody>
          <a:bodyPr wrap="square">
            <a:spAutoFit/>
          </a:bodyPr>
          <a:lstStyle/>
          <a:p>
            <a:pPr algn="l"/>
            <a:r>
              <a:rPr sz="1300" b="0" i="0">
                <a:solidFill>
                  <a:srgbClr val="2C3E50"/>
                </a:solidFill>
              </a:rPr>
              <a:t>Solution: Recursive descent with separate functions
per precedence level; unary-minus rule added</a:t>
            </a:r>
          </a:p>
        </p:txBody>
      </p:sp>
      <p:sp>
        <p:nvSpPr>
          <p:cNvPr id="15" name="Rectangle 14"/>
          <p:cNvSpPr/>
          <p:nvPr/>
        </p:nvSpPr>
        <p:spPr>
          <a:xfrm>
            <a:off x="274320" y="3931920"/>
            <a:ext cx="5760720" cy="2423160"/>
          </a:xfrm>
          <a:prstGeom prst="rect">
            <a:avLst/>
          </a:prstGeom>
          <a:solidFill>
            <a:srgbClr val="F0F4F8"/>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4023360"/>
            <a:ext cx="5486400" cy="384048"/>
          </a:xfrm>
          <a:prstGeom prst="rect">
            <a:avLst/>
          </a:prstGeom>
          <a:noFill/>
        </p:spPr>
        <p:txBody>
          <a:bodyPr wrap="square">
            <a:spAutoFit/>
          </a:bodyPr>
          <a:lstStyle/>
          <a:p>
            <a:pPr algn="l"/>
            <a:r>
              <a:rPr sz="1700" b="1" i="0">
                <a:solidFill>
                  <a:srgbClr val="3498DB"/>
                </a:solidFill>
              </a:rPr>
              <a:t>📊  Visualization Dependencies</a:t>
            </a:r>
          </a:p>
        </p:txBody>
      </p:sp>
      <p:sp>
        <p:nvSpPr>
          <p:cNvPr id="17" name="TextBox 16"/>
          <p:cNvSpPr txBox="1"/>
          <p:nvPr/>
        </p:nvSpPr>
        <p:spPr>
          <a:xfrm>
            <a:off x="411480" y="4462272"/>
            <a:ext cx="5486400" cy="640080"/>
          </a:xfrm>
          <a:prstGeom prst="rect">
            <a:avLst/>
          </a:prstGeom>
          <a:noFill/>
        </p:spPr>
        <p:txBody>
          <a:bodyPr wrap="square">
            <a:spAutoFit/>
          </a:bodyPr>
          <a:lstStyle/>
          <a:p>
            <a:pPr algn="l"/>
            <a:r>
              <a:rPr sz="1300" b="0" i="1">
                <a:solidFill>
                  <a:srgbClr val="E74C3C"/>
                </a:solidFill>
              </a:rPr>
              <a:t>Problem: Chart.js native Node bindings failed to install</a:t>
            </a:r>
          </a:p>
        </p:txBody>
      </p:sp>
      <p:sp>
        <p:nvSpPr>
          <p:cNvPr id="18" name="TextBox 17"/>
          <p:cNvSpPr txBox="1"/>
          <p:nvPr/>
        </p:nvSpPr>
        <p:spPr>
          <a:xfrm>
            <a:off x="411480" y="5074920"/>
            <a:ext cx="5486400" cy="1097280"/>
          </a:xfrm>
          <a:prstGeom prst="rect">
            <a:avLst/>
          </a:prstGeom>
          <a:noFill/>
        </p:spPr>
        <p:txBody>
          <a:bodyPr wrap="square">
            <a:spAutoFit/>
          </a:bodyPr>
          <a:lstStyle/>
          <a:p>
            <a:pPr algn="l"/>
            <a:r>
              <a:rPr sz="1300" b="0" i="0">
                <a:solidFill>
                  <a:srgbClr val="2C3E50"/>
                </a:solidFill>
              </a:rPr>
              <a:t>Solution: Pivoted to CDN-based self-contained HTML
Works in any browser, no server needed</a:t>
            </a:r>
          </a:p>
        </p:txBody>
      </p:sp>
      <p:sp>
        <p:nvSpPr>
          <p:cNvPr id="19" name="Rectangle 18"/>
          <p:cNvSpPr/>
          <p:nvPr/>
        </p:nvSpPr>
        <p:spPr>
          <a:xfrm>
            <a:off x="6263640" y="3931920"/>
            <a:ext cx="5760720" cy="2423160"/>
          </a:xfrm>
          <a:prstGeom prst="rect">
            <a:avLst/>
          </a:prstGeom>
          <a:solidFill>
            <a:srgbClr val="F0F4F8"/>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023360"/>
            <a:ext cx="5486400" cy="384048"/>
          </a:xfrm>
          <a:prstGeom prst="rect">
            <a:avLst/>
          </a:prstGeom>
          <a:noFill/>
        </p:spPr>
        <p:txBody>
          <a:bodyPr wrap="square">
            <a:spAutoFit/>
          </a:bodyPr>
          <a:lstStyle/>
          <a:p>
            <a:pPr algn="l"/>
            <a:r>
              <a:rPr sz="1700" b="1" i="0">
                <a:solidFill>
                  <a:srgbClr val="27AE60"/>
                </a:solidFill>
              </a:rPr>
              <a:t>📐  Multi-Observation Inference</a:t>
            </a:r>
          </a:p>
        </p:txBody>
      </p:sp>
      <p:sp>
        <p:nvSpPr>
          <p:cNvPr id="21" name="TextBox 20"/>
          <p:cNvSpPr txBox="1"/>
          <p:nvPr/>
        </p:nvSpPr>
        <p:spPr>
          <a:xfrm>
            <a:off x="6400800" y="4462272"/>
            <a:ext cx="5486400" cy="640080"/>
          </a:xfrm>
          <a:prstGeom prst="rect">
            <a:avLst/>
          </a:prstGeom>
          <a:noFill/>
        </p:spPr>
        <p:txBody>
          <a:bodyPr wrap="square">
            <a:spAutoFit/>
          </a:bodyPr>
          <a:lstStyle/>
          <a:p>
            <a:pPr algn="l"/>
            <a:r>
              <a:rPr sz="1300" b="0" i="1">
                <a:solidFill>
                  <a:srgbClr val="E74C3C"/>
                </a:solidFill>
              </a:rPr>
              <a:t>Problem: Standard interpreter handles one observe() call</a:t>
            </a:r>
          </a:p>
        </p:txBody>
      </p:sp>
      <p:sp>
        <p:nvSpPr>
          <p:cNvPr id="22" name="TextBox 21"/>
          <p:cNvSpPr txBox="1"/>
          <p:nvPr/>
        </p:nvSpPr>
        <p:spPr>
          <a:xfrm>
            <a:off x="6400800" y="5074920"/>
            <a:ext cx="5486400" cy="1097280"/>
          </a:xfrm>
          <a:prstGeom prst="rect">
            <a:avLst/>
          </a:prstGeom>
          <a:noFill/>
        </p:spPr>
        <p:txBody>
          <a:bodyPr wrap="square">
            <a:spAutoFit/>
          </a:bodyPr>
          <a:lstStyle/>
          <a:p>
            <a:pPr algn="l"/>
            <a:r>
              <a:rPr sz="1300" b="0" i="0">
                <a:solidFill>
                  <a:srgbClr val="2C3E50"/>
                </a:solidFill>
              </a:rPr>
              <a:t>Solution: Subclassed NHANESInterpreter accumulates
log-likelihood across all 30 observations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Impact &amp; Real-World Applications</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25880"/>
            <a:ext cx="3566160" cy="34747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417320"/>
            <a:ext cx="3383280" cy="502920"/>
          </a:xfrm>
          <a:prstGeom prst="rect">
            <a:avLst/>
          </a:prstGeom>
          <a:noFill/>
        </p:spPr>
        <p:txBody>
          <a:bodyPr wrap="square">
            <a:spAutoFit/>
          </a:bodyPr>
          <a:lstStyle/>
          <a:p>
            <a:pPr algn="ctr"/>
            <a:r>
              <a:rPr sz="2800" b="0" i="0">
                <a:solidFill>
                  <a:srgbClr val="2C3E50"/>
                </a:solidFill>
              </a:rPr>
              <a:t>🏥</a:t>
            </a:r>
          </a:p>
        </p:txBody>
      </p:sp>
      <p:sp>
        <p:nvSpPr>
          <p:cNvPr id="9" name="TextBox 8"/>
          <p:cNvSpPr txBox="1"/>
          <p:nvPr/>
        </p:nvSpPr>
        <p:spPr>
          <a:xfrm>
            <a:off x="365760" y="1920240"/>
            <a:ext cx="3383280" cy="384048"/>
          </a:xfrm>
          <a:prstGeom prst="rect">
            <a:avLst/>
          </a:prstGeom>
          <a:noFill/>
        </p:spPr>
        <p:txBody>
          <a:bodyPr wrap="square">
            <a:spAutoFit/>
          </a:bodyPr>
          <a:lstStyle/>
          <a:p>
            <a:pPr algn="ctr"/>
            <a:r>
              <a:rPr sz="1700" b="1" i="0">
                <a:solidFill>
                  <a:srgbClr val="3498DB"/>
                </a:solidFill>
              </a:rPr>
              <a:t>Medical Diagnosis</a:t>
            </a:r>
          </a:p>
        </p:txBody>
      </p:sp>
      <p:sp>
        <p:nvSpPr>
          <p:cNvPr id="10" name="TextBox 9"/>
          <p:cNvSpPr txBox="1"/>
          <p:nvPr/>
        </p:nvSpPr>
        <p:spPr>
          <a:xfrm>
            <a:off x="411480" y="2423160"/>
            <a:ext cx="3291840" cy="640080"/>
          </a:xfrm>
          <a:prstGeom prst="rect">
            <a:avLst/>
          </a:prstGeom>
          <a:noFill/>
        </p:spPr>
        <p:txBody>
          <a:bodyPr wrap="square">
            <a:spAutoFit/>
          </a:bodyPr>
          <a:lstStyle/>
          <a:p>
            <a:pPr algn="l"/>
            <a:r>
              <a:rPr sz="1300" b="0" i="0">
                <a:solidFill>
                  <a:srgbClr val="FFFFFF"/>
                </a:solidFill>
              </a:rPr>
              <a:t>• Observe: Patient symptoms &amp; measurements</a:t>
            </a:r>
          </a:p>
        </p:txBody>
      </p:sp>
      <p:sp>
        <p:nvSpPr>
          <p:cNvPr id="11" name="TextBox 10"/>
          <p:cNvSpPr txBox="1"/>
          <p:nvPr/>
        </p:nvSpPr>
        <p:spPr>
          <a:xfrm>
            <a:off x="411480" y="3108960"/>
            <a:ext cx="3291840" cy="640080"/>
          </a:xfrm>
          <a:prstGeom prst="rect">
            <a:avLst/>
          </a:prstGeom>
          <a:noFill/>
        </p:spPr>
        <p:txBody>
          <a:bodyPr wrap="square">
            <a:spAutoFit/>
          </a:bodyPr>
          <a:lstStyle/>
          <a:p>
            <a:pPr algn="l"/>
            <a:r>
              <a:rPr sz="1300" b="0" i="0">
                <a:solidFill>
                  <a:srgbClr val="FFFFFF"/>
                </a:solidFill>
              </a:rPr>
              <a:t>• Infer: Disease probability distribution</a:t>
            </a:r>
          </a:p>
        </p:txBody>
      </p:sp>
      <p:sp>
        <p:nvSpPr>
          <p:cNvPr id="12" name="TextBox 11"/>
          <p:cNvSpPr txBox="1"/>
          <p:nvPr/>
        </p:nvSpPr>
        <p:spPr>
          <a:xfrm>
            <a:off x="411480" y="3794760"/>
            <a:ext cx="3291840" cy="640080"/>
          </a:xfrm>
          <a:prstGeom prst="rect">
            <a:avLst/>
          </a:prstGeom>
          <a:noFill/>
        </p:spPr>
        <p:txBody>
          <a:bodyPr wrap="square">
            <a:spAutoFit/>
          </a:bodyPr>
          <a:lstStyle/>
          <a:p>
            <a:pPr algn="l"/>
            <a:r>
              <a:rPr sz="1300" b="0" i="0">
                <a:solidFill>
                  <a:srgbClr val="FFFFFF"/>
                </a:solidFill>
              </a:rPr>
              <a:t>• Example: Diabetes risk from BMI &amp; glucose</a:t>
            </a:r>
          </a:p>
        </p:txBody>
      </p:sp>
      <p:sp>
        <p:nvSpPr>
          <p:cNvPr id="13" name="Rectangle 12"/>
          <p:cNvSpPr/>
          <p:nvPr/>
        </p:nvSpPr>
        <p:spPr>
          <a:xfrm>
            <a:off x="4251959" y="1325880"/>
            <a:ext cx="3566160" cy="34747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399" y="1417320"/>
            <a:ext cx="3383280" cy="502920"/>
          </a:xfrm>
          <a:prstGeom prst="rect">
            <a:avLst/>
          </a:prstGeom>
          <a:noFill/>
        </p:spPr>
        <p:txBody>
          <a:bodyPr wrap="square">
            <a:spAutoFit/>
          </a:bodyPr>
          <a:lstStyle/>
          <a:p>
            <a:pPr algn="ctr"/>
            <a:r>
              <a:rPr sz="2800" b="0" i="0">
                <a:solidFill>
                  <a:srgbClr val="2C3E50"/>
                </a:solidFill>
              </a:rPr>
              <a:t>🤖</a:t>
            </a:r>
          </a:p>
        </p:txBody>
      </p:sp>
      <p:sp>
        <p:nvSpPr>
          <p:cNvPr id="15" name="TextBox 14"/>
          <p:cNvSpPr txBox="1"/>
          <p:nvPr/>
        </p:nvSpPr>
        <p:spPr>
          <a:xfrm>
            <a:off x="4343399" y="1920240"/>
            <a:ext cx="3383280" cy="384048"/>
          </a:xfrm>
          <a:prstGeom prst="rect">
            <a:avLst/>
          </a:prstGeom>
          <a:noFill/>
        </p:spPr>
        <p:txBody>
          <a:bodyPr wrap="square">
            <a:spAutoFit/>
          </a:bodyPr>
          <a:lstStyle/>
          <a:p>
            <a:pPr algn="ctr"/>
            <a:r>
              <a:rPr sz="1700" b="1" i="0">
                <a:solidFill>
                  <a:srgbClr val="3498DB"/>
                </a:solidFill>
              </a:rPr>
              <a:t>Robotics &amp; Localization</a:t>
            </a:r>
          </a:p>
        </p:txBody>
      </p:sp>
      <p:sp>
        <p:nvSpPr>
          <p:cNvPr id="16" name="TextBox 15"/>
          <p:cNvSpPr txBox="1"/>
          <p:nvPr/>
        </p:nvSpPr>
        <p:spPr>
          <a:xfrm>
            <a:off x="4389119" y="2423160"/>
            <a:ext cx="3291840" cy="640080"/>
          </a:xfrm>
          <a:prstGeom prst="rect">
            <a:avLst/>
          </a:prstGeom>
          <a:noFill/>
        </p:spPr>
        <p:txBody>
          <a:bodyPr wrap="square">
            <a:spAutoFit/>
          </a:bodyPr>
          <a:lstStyle/>
          <a:p>
            <a:pPr algn="l"/>
            <a:r>
              <a:rPr sz="1300" b="0" i="0">
                <a:solidFill>
                  <a:srgbClr val="FFFFFF"/>
                </a:solidFill>
              </a:rPr>
              <a:t>• Observe: Noisy sensor readings</a:t>
            </a:r>
          </a:p>
        </p:txBody>
      </p:sp>
      <p:sp>
        <p:nvSpPr>
          <p:cNvPr id="17" name="TextBox 16"/>
          <p:cNvSpPr txBox="1"/>
          <p:nvPr/>
        </p:nvSpPr>
        <p:spPr>
          <a:xfrm>
            <a:off x="4389119" y="3108960"/>
            <a:ext cx="3291840" cy="640080"/>
          </a:xfrm>
          <a:prstGeom prst="rect">
            <a:avLst/>
          </a:prstGeom>
          <a:noFill/>
        </p:spPr>
        <p:txBody>
          <a:bodyPr wrap="square">
            <a:spAutoFit/>
          </a:bodyPr>
          <a:lstStyle/>
          <a:p>
            <a:pPr algn="l"/>
            <a:r>
              <a:rPr sz="1300" b="0" i="0">
                <a:solidFill>
                  <a:srgbClr val="FFFFFF"/>
                </a:solidFill>
              </a:rPr>
              <a:t>• Infer: Robot position &amp; state estimate</a:t>
            </a:r>
          </a:p>
        </p:txBody>
      </p:sp>
      <p:sp>
        <p:nvSpPr>
          <p:cNvPr id="18" name="TextBox 17"/>
          <p:cNvSpPr txBox="1"/>
          <p:nvPr/>
        </p:nvSpPr>
        <p:spPr>
          <a:xfrm>
            <a:off x="4389119" y="3794760"/>
            <a:ext cx="3291840" cy="640080"/>
          </a:xfrm>
          <a:prstGeom prst="rect">
            <a:avLst/>
          </a:prstGeom>
          <a:noFill/>
        </p:spPr>
        <p:txBody>
          <a:bodyPr wrap="square">
            <a:spAutoFit/>
          </a:bodyPr>
          <a:lstStyle/>
          <a:p>
            <a:pPr algn="l"/>
            <a:r>
              <a:rPr sz="1300" b="0" i="0">
                <a:solidFill>
                  <a:srgbClr val="FFFFFF"/>
                </a:solidFill>
              </a:rPr>
              <a:t>• Example: SLAM with uncertainty bounds</a:t>
            </a:r>
          </a:p>
        </p:txBody>
      </p:sp>
      <p:sp>
        <p:nvSpPr>
          <p:cNvPr id="19" name="Rectangle 18"/>
          <p:cNvSpPr/>
          <p:nvPr/>
        </p:nvSpPr>
        <p:spPr>
          <a:xfrm>
            <a:off x="8229598" y="1325880"/>
            <a:ext cx="3566160" cy="34747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38" y="1417320"/>
            <a:ext cx="3383280" cy="502920"/>
          </a:xfrm>
          <a:prstGeom prst="rect">
            <a:avLst/>
          </a:prstGeom>
          <a:noFill/>
        </p:spPr>
        <p:txBody>
          <a:bodyPr wrap="square">
            <a:spAutoFit/>
          </a:bodyPr>
          <a:lstStyle/>
          <a:p>
            <a:pPr algn="ctr"/>
            <a:r>
              <a:rPr sz="2800" b="0" i="0">
                <a:solidFill>
                  <a:srgbClr val="2C3E50"/>
                </a:solidFill>
              </a:rPr>
              <a:t>📊</a:t>
            </a:r>
          </a:p>
        </p:txBody>
      </p:sp>
      <p:sp>
        <p:nvSpPr>
          <p:cNvPr id="21" name="TextBox 20"/>
          <p:cNvSpPr txBox="1"/>
          <p:nvPr/>
        </p:nvSpPr>
        <p:spPr>
          <a:xfrm>
            <a:off x="8321038" y="1920240"/>
            <a:ext cx="3383280" cy="384048"/>
          </a:xfrm>
          <a:prstGeom prst="rect">
            <a:avLst/>
          </a:prstGeom>
          <a:noFill/>
        </p:spPr>
        <p:txBody>
          <a:bodyPr wrap="square">
            <a:spAutoFit/>
          </a:bodyPr>
          <a:lstStyle/>
          <a:p>
            <a:pPr algn="ctr"/>
            <a:r>
              <a:rPr sz="1700" b="1" i="0">
                <a:solidFill>
                  <a:srgbClr val="3498DB"/>
                </a:solidFill>
              </a:rPr>
              <a:t>Data Science &amp; Research</a:t>
            </a:r>
          </a:p>
        </p:txBody>
      </p:sp>
      <p:sp>
        <p:nvSpPr>
          <p:cNvPr id="22" name="TextBox 21"/>
          <p:cNvSpPr txBox="1"/>
          <p:nvPr/>
        </p:nvSpPr>
        <p:spPr>
          <a:xfrm>
            <a:off x="8366758" y="2423160"/>
            <a:ext cx="3291840" cy="640080"/>
          </a:xfrm>
          <a:prstGeom prst="rect">
            <a:avLst/>
          </a:prstGeom>
          <a:noFill/>
        </p:spPr>
        <p:txBody>
          <a:bodyPr wrap="square">
            <a:spAutoFit/>
          </a:bodyPr>
          <a:lstStyle/>
          <a:p>
            <a:pPr algn="l"/>
            <a:r>
              <a:rPr sz="1300" b="0" i="0">
                <a:solidFill>
                  <a:srgbClr val="FFFFFF"/>
                </a:solidFill>
              </a:rPr>
              <a:t>• Observe: Training / survey data</a:t>
            </a:r>
          </a:p>
        </p:txBody>
      </p:sp>
      <p:sp>
        <p:nvSpPr>
          <p:cNvPr id="23" name="TextBox 22"/>
          <p:cNvSpPr txBox="1"/>
          <p:nvPr/>
        </p:nvSpPr>
        <p:spPr>
          <a:xfrm>
            <a:off x="8366758" y="3108960"/>
            <a:ext cx="3291840" cy="640080"/>
          </a:xfrm>
          <a:prstGeom prst="rect">
            <a:avLst/>
          </a:prstGeom>
          <a:noFill/>
        </p:spPr>
        <p:txBody>
          <a:bodyPr wrap="square">
            <a:spAutoFit/>
          </a:bodyPr>
          <a:lstStyle/>
          <a:p>
            <a:pPr algn="l"/>
            <a:r>
              <a:rPr sz="1300" b="0" i="0">
                <a:solidFill>
                  <a:srgbClr val="FFFFFF"/>
                </a:solidFill>
              </a:rPr>
              <a:t>• Infer: Model parameters automatically</a:t>
            </a:r>
          </a:p>
        </p:txBody>
      </p:sp>
      <p:sp>
        <p:nvSpPr>
          <p:cNvPr id="24" name="TextBox 23"/>
          <p:cNvSpPr txBox="1"/>
          <p:nvPr/>
        </p:nvSpPr>
        <p:spPr>
          <a:xfrm>
            <a:off x="8366758" y="3794760"/>
            <a:ext cx="3291840" cy="640080"/>
          </a:xfrm>
          <a:prstGeom prst="rect">
            <a:avLst/>
          </a:prstGeom>
          <a:noFill/>
        </p:spPr>
        <p:txBody>
          <a:bodyPr wrap="square">
            <a:spAutoFit/>
          </a:bodyPr>
          <a:lstStyle/>
          <a:p>
            <a:pPr algn="l"/>
            <a:r>
              <a:rPr sz="1300" b="0" i="0">
                <a:solidFill>
                  <a:srgbClr val="FFFFFF"/>
                </a:solidFill>
              </a:rPr>
              <a:t>• Example: Bayesian linear regression</a:t>
            </a:r>
          </a:p>
        </p:txBody>
      </p:sp>
      <p:sp>
        <p:nvSpPr>
          <p:cNvPr id="25" name="Rectangle 24"/>
          <p:cNvSpPr/>
          <p:nvPr/>
        </p:nvSpPr>
        <p:spPr>
          <a:xfrm>
            <a:off x="274320" y="5029200"/>
            <a:ext cx="11640312" cy="1463040"/>
          </a:xfrm>
          <a:prstGeom prst="rect">
            <a:avLst/>
          </a:prstGeom>
          <a:solidFill>
            <a:srgbClr val="EBF5FB"/>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5093208"/>
            <a:ext cx="11274552" cy="347472"/>
          </a:xfrm>
          <a:prstGeom prst="rect">
            <a:avLst/>
          </a:prstGeom>
          <a:noFill/>
        </p:spPr>
        <p:txBody>
          <a:bodyPr wrap="square">
            <a:spAutoFit/>
          </a:bodyPr>
          <a:lstStyle/>
          <a:p>
            <a:pPr algn="l"/>
            <a:r>
              <a:rPr sz="1700" b="1" i="0">
                <a:solidFill>
                  <a:srgbClr val="3498DB"/>
                </a:solidFill>
              </a:rPr>
              <a:t>Why This Matters</a:t>
            </a:r>
          </a:p>
        </p:txBody>
      </p:sp>
      <p:sp>
        <p:nvSpPr>
          <p:cNvPr id="27" name="TextBox 26"/>
          <p:cNvSpPr txBox="1"/>
          <p:nvPr/>
        </p:nvSpPr>
        <p:spPr>
          <a:xfrm>
            <a:off x="457200" y="5458968"/>
            <a:ext cx="11274552" cy="822960"/>
          </a:xfrm>
          <a:prstGeom prst="rect">
            <a:avLst/>
          </a:prstGeom>
          <a:noFill/>
        </p:spPr>
        <p:txBody>
          <a:bodyPr wrap="square">
            <a:spAutoFit/>
          </a:bodyPr>
          <a:lstStyle/>
          <a:p>
            <a:pPr algn="l"/>
            <a:r>
              <a:rPr sz="1400" b="0" i="0">
                <a:solidFill>
                  <a:srgbClr val="2C3E50"/>
                </a:solidFill>
              </a:rPr>
              <a:t>Makes Bayesian inference accessible to domain experts who are not statistical programmers  •  Reduces implementation errors  •  Enables rapid prototyping of probabilistic models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Limitations &amp; Future Work</a:t>
            </a:r>
          </a:p>
        </p:txBody>
      </p:sp>
      <p:sp>
        <p:nvSpPr>
          <p:cNvPr id="6" name="Rectangle 5"/>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234440"/>
            <a:ext cx="5394960" cy="5212080"/>
          </a:xfrm>
          <a:prstGeom prst="rect">
            <a:avLst/>
          </a:prstGeom>
          <a:solidFill>
            <a:srgbClr val="F0F4F8"/>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325880"/>
            <a:ext cx="5120640" cy="411480"/>
          </a:xfrm>
          <a:prstGeom prst="rect">
            <a:avLst/>
          </a:prstGeom>
          <a:noFill/>
        </p:spPr>
        <p:txBody>
          <a:bodyPr wrap="square">
            <a:spAutoFit/>
          </a:bodyPr>
          <a:lstStyle/>
          <a:p>
            <a:pPr algn="l"/>
            <a:r>
              <a:rPr sz="1900" b="1" i="0">
                <a:solidFill>
                  <a:srgbClr val="E74C3C"/>
                </a:solidFill>
              </a:rPr>
              <a:t>Current Limitations</a:t>
            </a:r>
          </a:p>
        </p:txBody>
      </p:sp>
      <p:sp>
        <p:nvSpPr>
          <p:cNvPr id="9" name="TextBox 8"/>
          <p:cNvSpPr txBox="1"/>
          <p:nvPr/>
        </p:nvSpPr>
        <p:spPr>
          <a:xfrm>
            <a:off x="411480" y="1920240"/>
            <a:ext cx="5120640" cy="914400"/>
          </a:xfrm>
          <a:prstGeom prst="rect">
            <a:avLst/>
          </a:prstGeom>
          <a:noFill/>
        </p:spPr>
        <p:txBody>
          <a:bodyPr wrap="square">
            <a:spAutoFit/>
          </a:bodyPr>
          <a:lstStyle/>
          <a:p>
            <a:pPr algn="l"/>
            <a:r>
              <a:rPr sz="1400" b="0" i="0">
                <a:solidFill>
                  <a:srgbClr val="2C3E50"/>
                </a:solidFill>
              </a:rPr>
              <a:t>• Low ESS with many observations (weight collapse)
  — fundamental to prior-sampling inference</a:t>
            </a:r>
          </a:p>
        </p:txBody>
      </p:sp>
      <p:sp>
        <p:nvSpPr>
          <p:cNvPr id="10" name="TextBox 9"/>
          <p:cNvSpPr txBox="1"/>
          <p:nvPr/>
        </p:nvSpPr>
        <p:spPr>
          <a:xfrm>
            <a:off x="411480" y="2926080"/>
            <a:ext cx="5120640" cy="914400"/>
          </a:xfrm>
          <a:prstGeom prst="rect">
            <a:avLst/>
          </a:prstGeom>
          <a:noFill/>
        </p:spPr>
        <p:txBody>
          <a:bodyPr wrap="square">
            <a:spAutoFit/>
          </a:bodyPr>
          <a:lstStyle/>
          <a:p>
            <a:pPr algn="l"/>
            <a:r>
              <a:rPr sz="1400" b="0" i="0">
                <a:solidFill>
                  <a:srgbClr val="2C3E50"/>
                </a:solidFill>
              </a:rPr>
              <a:t>• No control flow (loops, conditionals)
  in PPL syntax</a:t>
            </a:r>
          </a:p>
        </p:txBody>
      </p:sp>
      <p:sp>
        <p:nvSpPr>
          <p:cNvPr id="11" name="TextBox 10"/>
          <p:cNvSpPr txBox="1"/>
          <p:nvPr/>
        </p:nvSpPr>
        <p:spPr>
          <a:xfrm>
            <a:off x="411480" y="3931920"/>
            <a:ext cx="5120640" cy="914400"/>
          </a:xfrm>
          <a:prstGeom prst="rect">
            <a:avLst/>
          </a:prstGeom>
          <a:noFill/>
        </p:spPr>
        <p:txBody>
          <a:bodyPr wrap="square">
            <a:spAutoFit/>
          </a:bodyPr>
          <a:lstStyle/>
          <a:p>
            <a:pPr algn="l"/>
            <a:r>
              <a:rPr sz="1400" b="0" i="0">
                <a:solidFill>
                  <a:srgbClr val="2C3E50"/>
                </a:solidFill>
              </a:rPr>
              <a:t>• Gender-stratified sigma would improve
  NHANES accuracy (12 kg → 19 kg gap)</a:t>
            </a:r>
          </a:p>
        </p:txBody>
      </p:sp>
      <p:sp>
        <p:nvSpPr>
          <p:cNvPr id="12" name="TextBox 11"/>
          <p:cNvSpPr txBox="1"/>
          <p:nvPr/>
        </p:nvSpPr>
        <p:spPr>
          <a:xfrm>
            <a:off x="411480" y="4937760"/>
            <a:ext cx="5120640" cy="914400"/>
          </a:xfrm>
          <a:prstGeom prst="rect">
            <a:avLst/>
          </a:prstGeom>
          <a:noFill/>
        </p:spPr>
        <p:txBody>
          <a:bodyPr wrap="square">
            <a:spAutoFit/>
          </a:bodyPr>
          <a:lstStyle/>
          <a:p>
            <a:pPr algn="l"/>
            <a:r>
              <a:rPr sz="1400" b="0" i="0">
                <a:solidFill>
                  <a:srgbClr val="2C3E50"/>
                </a:solidFill>
              </a:rPr>
              <a:t>• Only two inference algorithms
  (no gradient-based methods)</a:t>
            </a:r>
          </a:p>
        </p:txBody>
      </p:sp>
      <p:sp>
        <p:nvSpPr>
          <p:cNvPr id="13" name="Rectangle 12"/>
          <p:cNvSpPr/>
          <p:nvPr/>
        </p:nvSpPr>
        <p:spPr>
          <a:xfrm>
            <a:off x="5943600" y="1234440"/>
            <a:ext cx="5943600" cy="5212080"/>
          </a:xfrm>
          <a:prstGeom prst="rect">
            <a:avLst/>
          </a:prstGeom>
          <a:solidFill>
            <a:srgbClr val="F0F4F8"/>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80760" y="1325880"/>
            <a:ext cx="5669280" cy="411480"/>
          </a:xfrm>
          <a:prstGeom prst="rect">
            <a:avLst/>
          </a:prstGeom>
          <a:noFill/>
        </p:spPr>
        <p:txBody>
          <a:bodyPr wrap="square">
            <a:spAutoFit/>
          </a:bodyPr>
          <a:lstStyle/>
          <a:p>
            <a:pPr algn="l"/>
            <a:r>
              <a:rPr sz="1900" b="1" i="0">
                <a:solidFill>
                  <a:srgbClr val="27AE60"/>
                </a:solidFill>
              </a:rPr>
              <a:t>Future Extensions</a:t>
            </a:r>
          </a:p>
        </p:txBody>
      </p:sp>
      <p:sp>
        <p:nvSpPr>
          <p:cNvPr id="15" name="TextBox 14"/>
          <p:cNvSpPr txBox="1"/>
          <p:nvPr/>
        </p:nvSpPr>
        <p:spPr>
          <a:xfrm>
            <a:off x="6080760" y="1920240"/>
            <a:ext cx="5669280" cy="347472"/>
          </a:xfrm>
          <a:prstGeom prst="rect">
            <a:avLst/>
          </a:prstGeom>
          <a:noFill/>
        </p:spPr>
        <p:txBody>
          <a:bodyPr wrap="square">
            <a:spAutoFit/>
          </a:bodyPr>
          <a:lstStyle/>
          <a:p>
            <a:pPr algn="l"/>
            <a:r>
              <a:rPr sz="1400" b="1" i="0">
                <a:solidFill>
                  <a:srgbClr val="27AE60"/>
                </a:solidFill>
              </a:rPr>
              <a:t>▶ MCMC (Metropolis-Hastings)</a:t>
            </a:r>
          </a:p>
        </p:txBody>
      </p:sp>
      <p:sp>
        <p:nvSpPr>
          <p:cNvPr id="16" name="TextBox 15"/>
          <p:cNvSpPr txBox="1"/>
          <p:nvPr/>
        </p:nvSpPr>
        <p:spPr>
          <a:xfrm>
            <a:off x="6080760" y="2267712"/>
            <a:ext cx="5669280" cy="502920"/>
          </a:xfrm>
          <a:prstGeom prst="rect">
            <a:avLst/>
          </a:prstGeom>
          <a:noFill/>
        </p:spPr>
        <p:txBody>
          <a:bodyPr wrap="square">
            <a:spAutoFit/>
          </a:bodyPr>
          <a:lstStyle/>
          <a:p>
            <a:pPr algn="l"/>
            <a:r>
              <a:rPr sz="1300" b="0" i="0">
                <a:solidFill>
                  <a:srgbClr val="2C3E50"/>
                </a:solidFill>
              </a:rPr>
              <a:t>   Efficient exploration of posterior;
  scales to large datasets</a:t>
            </a:r>
          </a:p>
        </p:txBody>
      </p:sp>
      <p:sp>
        <p:nvSpPr>
          <p:cNvPr id="17" name="TextBox 16"/>
          <p:cNvSpPr txBox="1"/>
          <p:nvPr/>
        </p:nvSpPr>
        <p:spPr>
          <a:xfrm>
            <a:off x="6080760" y="2926080"/>
            <a:ext cx="5669280" cy="347472"/>
          </a:xfrm>
          <a:prstGeom prst="rect">
            <a:avLst/>
          </a:prstGeom>
          <a:noFill/>
        </p:spPr>
        <p:txBody>
          <a:bodyPr wrap="square">
            <a:spAutoFit/>
          </a:bodyPr>
          <a:lstStyle/>
          <a:p>
            <a:pPr algn="l"/>
            <a:r>
              <a:rPr sz="1400" b="1" i="0">
                <a:solidFill>
                  <a:srgbClr val="27AE60"/>
                </a:solidFill>
              </a:rPr>
              <a:t>▶ Loops &amp; Conditionals</a:t>
            </a:r>
          </a:p>
        </p:txBody>
      </p:sp>
      <p:sp>
        <p:nvSpPr>
          <p:cNvPr id="18" name="TextBox 17"/>
          <p:cNvSpPr txBox="1"/>
          <p:nvPr/>
        </p:nvSpPr>
        <p:spPr>
          <a:xfrm>
            <a:off x="6080760" y="3273552"/>
            <a:ext cx="5669280" cy="502920"/>
          </a:xfrm>
          <a:prstGeom prst="rect">
            <a:avLst/>
          </a:prstGeom>
          <a:noFill/>
        </p:spPr>
        <p:txBody>
          <a:bodyPr wrap="square">
            <a:spAutoFit/>
          </a:bodyPr>
          <a:lstStyle/>
          <a:p>
            <a:pPr algn="l"/>
            <a:r>
              <a:rPr sz="1300" b="0" i="0">
                <a:solidFill>
                  <a:srgbClr val="2C3E50"/>
                </a:solidFill>
              </a:rPr>
              <a:t>   Full Turing-complete PPL syntax</a:t>
            </a:r>
          </a:p>
        </p:txBody>
      </p:sp>
      <p:sp>
        <p:nvSpPr>
          <p:cNvPr id="19" name="TextBox 18"/>
          <p:cNvSpPr txBox="1"/>
          <p:nvPr/>
        </p:nvSpPr>
        <p:spPr>
          <a:xfrm>
            <a:off x="6080760" y="3931920"/>
            <a:ext cx="5669280" cy="347472"/>
          </a:xfrm>
          <a:prstGeom prst="rect">
            <a:avLst/>
          </a:prstGeom>
          <a:noFill/>
        </p:spPr>
        <p:txBody>
          <a:bodyPr wrap="square">
            <a:spAutoFit/>
          </a:bodyPr>
          <a:lstStyle/>
          <a:p>
            <a:pPr algn="l"/>
            <a:r>
              <a:rPr sz="1400" b="1" i="0">
                <a:solidFill>
                  <a:srgbClr val="27AE60"/>
                </a:solidFill>
              </a:rPr>
              <a:t>▶ More Distributions</a:t>
            </a:r>
          </a:p>
        </p:txBody>
      </p:sp>
      <p:sp>
        <p:nvSpPr>
          <p:cNvPr id="20" name="TextBox 19"/>
          <p:cNvSpPr txBox="1"/>
          <p:nvPr/>
        </p:nvSpPr>
        <p:spPr>
          <a:xfrm>
            <a:off x="6080760" y="4279392"/>
            <a:ext cx="5669280" cy="502920"/>
          </a:xfrm>
          <a:prstGeom prst="rect">
            <a:avLst/>
          </a:prstGeom>
          <a:noFill/>
        </p:spPr>
        <p:txBody>
          <a:bodyPr wrap="square">
            <a:spAutoFit/>
          </a:bodyPr>
          <a:lstStyle/>
          <a:p>
            <a:pPr algn="l"/>
            <a:r>
              <a:rPr sz="1300" b="0" i="0">
                <a:solidFill>
                  <a:srgbClr val="2C3E50"/>
                </a:solidFill>
              </a:rPr>
              <a:t>   Beta, Dirichlet, Poisson, Gamma</a:t>
            </a:r>
          </a:p>
        </p:txBody>
      </p:sp>
      <p:sp>
        <p:nvSpPr>
          <p:cNvPr id="21" name="TextBox 20"/>
          <p:cNvSpPr txBox="1"/>
          <p:nvPr/>
        </p:nvSpPr>
        <p:spPr>
          <a:xfrm>
            <a:off x="6080760" y="4937760"/>
            <a:ext cx="5669280" cy="347472"/>
          </a:xfrm>
          <a:prstGeom prst="rect">
            <a:avLst/>
          </a:prstGeom>
          <a:noFill/>
        </p:spPr>
        <p:txBody>
          <a:bodyPr wrap="square">
            <a:spAutoFit/>
          </a:bodyPr>
          <a:lstStyle/>
          <a:p>
            <a:pPr algn="l"/>
            <a:r>
              <a:rPr sz="1400" b="1" i="0">
                <a:solidFill>
                  <a:srgbClr val="27AE60"/>
                </a:solidFill>
              </a:rPr>
              <a:t>▶ Gender-Stratified Model</a:t>
            </a:r>
          </a:p>
        </p:txBody>
      </p:sp>
      <p:sp>
        <p:nvSpPr>
          <p:cNvPr id="22" name="TextBox 21"/>
          <p:cNvSpPr txBox="1"/>
          <p:nvPr/>
        </p:nvSpPr>
        <p:spPr>
          <a:xfrm>
            <a:off x="6080760" y="5285232"/>
            <a:ext cx="5669280" cy="502920"/>
          </a:xfrm>
          <a:prstGeom prst="rect">
            <a:avLst/>
          </a:prstGeom>
          <a:noFill/>
        </p:spPr>
        <p:txBody>
          <a:bodyPr wrap="square">
            <a:spAutoFit/>
          </a:bodyPr>
          <a:lstStyle/>
          <a:p>
            <a:pPr algn="l"/>
            <a:r>
              <a:rPr sz="1300" b="0" i="0">
                <a:solidFill>
                  <a:srgbClr val="2C3E50"/>
                </a:solidFill>
              </a:rPr>
              <a:t>   Bring sigma to ~12 kg (CDC single-sex ref)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
            <a:ext cx="11274552" cy="658368"/>
          </a:xfrm>
          <a:prstGeom prst="rect">
            <a:avLst/>
          </a:prstGeom>
          <a:noFill/>
        </p:spPr>
        <p:txBody>
          <a:bodyPr wrap="square">
            <a:spAutoFit/>
          </a:bodyPr>
          <a:lstStyle/>
          <a:p>
            <a:pPr algn="ctr"/>
            <a:r>
              <a:rPr sz="3200" b="1" i="0">
                <a:solidFill>
                  <a:srgbClr val="FFFFFF"/>
                </a:solidFill>
              </a:rPr>
              <a:t>Summary &amp; Contributions</a:t>
            </a:r>
          </a:p>
        </p:txBody>
      </p:sp>
      <p:sp>
        <p:nvSpPr>
          <p:cNvPr id="6" name="Rectangle 5"/>
          <p:cNvSpPr/>
          <p:nvPr/>
        </p:nvSpPr>
        <p:spPr>
          <a:xfrm>
            <a:off x="274320" y="960120"/>
            <a:ext cx="7132320" cy="4114800"/>
          </a:xfrm>
          <a:prstGeom prst="rect">
            <a:avLst/>
          </a:prstGeom>
          <a:solidFill>
            <a:srgbClr val="1A2530"/>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024128"/>
            <a:ext cx="6858000" cy="384048"/>
          </a:xfrm>
          <a:prstGeom prst="rect">
            <a:avLst/>
          </a:prstGeom>
          <a:noFill/>
        </p:spPr>
        <p:txBody>
          <a:bodyPr wrap="square">
            <a:spAutoFit/>
          </a:bodyPr>
          <a:lstStyle/>
          <a:p>
            <a:pPr algn="l"/>
            <a:r>
              <a:rPr sz="1800" b="1" i="0">
                <a:solidFill>
                  <a:srgbClr val="3498DB"/>
                </a:solidFill>
              </a:rPr>
              <a:t>What I Built</a:t>
            </a:r>
          </a:p>
        </p:txBody>
      </p:sp>
      <p:sp>
        <p:nvSpPr>
          <p:cNvPr id="8" name="TextBox 7"/>
          <p:cNvSpPr txBox="1"/>
          <p:nvPr/>
        </p:nvSpPr>
        <p:spPr>
          <a:xfrm>
            <a:off x="411480" y="1463040"/>
            <a:ext cx="6858000" cy="621792"/>
          </a:xfrm>
          <a:prstGeom prst="rect">
            <a:avLst/>
          </a:prstGeom>
          <a:noFill/>
        </p:spPr>
        <p:txBody>
          <a:bodyPr wrap="square">
            <a:spAutoFit/>
          </a:bodyPr>
          <a:lstStyle/>
          <a:p>
            <a:pPr algn="l"/>
            <a:r>
              <a:rPr sz="1300" b="0" i="0">
                <a:solidFill>
                  <a:srgbClr val="FFFFFF"/>
                </a:solidFill>
              </a:rPr>
              <a:t>✅  Complete PPL pipeline: lexer → parser → interpreter (JavaScript, ~1,500 lines)</a:t>
            </a:r>
          </a:p>
        </p:txBody>
      </p:sp>
      <p:sp>
        <p:nvSpPr>
          <p:cNvPr id="9" name="TextBox 8"/>
          <p:cNvSpPr txBox="1"/>
          <p:nvPr/>
        </p:nvSpPr>
        <p:spPr>
          <a:xfrm>
            <a:off x="411480" y="2121408"/>
            <a:ext cx="6858000" cy="621792"/>
          </a:xfrm>
          <a:prstGeom prst="rect">
            <a:avLst/>
          </a:prstGeom>
          <a:noFill/>
        </p:spPr>
        <p:txBody>
          <a:bodyPr wrap="square">
            <a:spAutoFit/>
          </a:bodyPr>
          <a:lstStyle/>
          <a:p>
            <a:pPr algn="l"/>
            <a:r>
              <a:rPr sz="1300" b="0" i="0">
                <a:solidFill>
                  <a:srgbClr val="FFFFFF"/>
                </a:solidFill>
              </a:rPr>
              <a:t>✅  Two inference algorithms validated against theory (0.17% error on rejection sampling)</a:t>
            </a:r>
          </a:p>
        </p:txBody>
      </p:sp>
      <p:sp>
        <p:nvSpPr>
          <p:cNvPr id="10" name="TextBox 9"/>
          <p:cNvSpPr txBox="1"/>
          <p:nvPr/>
        </p:nvSpPr>
        <p:spPr>
          <a:xfrm>
            <a:off x="411480" y="2779776"/>
            <a:ext cx="6858000" cy="621792"/>
          </a:xfrm>
          <a:prstGeom prst="rect">
            <a:avLst/>
          </a:prstGeom>
          <a:noFill/>
        </p:spPr>
        <p:txBody>
          <a:bodyPr wrap="square">
            <a:spAutoFit/>
          </a:bodyPr>
          <a:lstStyle/>
          <a:p>
            <a:pPr algn="l"/>
            <a:r>
              <a:rPr sz="1300" b="0" i="0">
                <a:solidFill>
                  <a:srgbClr val="FFFFFF"/>
                </a:solidFill>
              </a:rPr>
              <a:t>✅  Real-world NHANES validation: beta = 1.096 vs CDC reference 1.1  (0.37% error)</a:t>
            </a:r>
          </a:p>
        </p:txBody>
      </p:sp>
      <p:sp>
        <p:nvSpPr>
          <p:cNvPr id="11" name="TextBox 10"/>
          <p:cNvSpPr txBox="1"/>
          <p:nvPr/>
        </p:nvSpPr>
        <p:spPr>
          <a:xfrm>
            <a:off x="411480" y="3438144"/>
            <a:ext cx="6858000" cy="621792"/>
          </a:xfrm>
          <a:prstGeom prst="rect">
            <a:avLst/>
          </a:prstGeom>
          <a:noFill/>
        </p:spPr>
        <p:txBody>
          <a:bodyPr wrap="square">
            <a:spAutoFit/>
          </a:bodyPr>
          <a:lstStyle/>
          <a:p>
            <a:pPr algn="l"/>
            <a:r>
              <a:rPr sz="1300" b="0" i="0">
                <a:solidFill>
                  <a:srgbClr val="FFFFFF"/>
                </a:solidFill>
              </a:rPr>
              <a:t>✅  Automated CDN-based HTML visualization with ESS metrics</a:t>
            </a:r>
          </a:p>
        </p:txBody>
      </p:sp>
      <p:sp>
        <p:nvSpPr>
          <p:cNvPr id="12" name="TextBox 11"/>
          <p:cNvSpPr txBox="1"/>
          <p:nvPr/>
        </p:nvSpPr>
        <p:spPr>
          <a:xfrm>
            <a:off x="411480" y="4096512"/>
            <a:ext cx="6858000" cy="621792"/>
          </a:xfrm>
          <a:prstGeom prst="rect">
            <a:avLst/>
          </a:prstGeom>
          <a:noFill/>
        </p:spPr>
        <p:txBody>
          <a:bodyPr wrap="square">
            <a:spAutoFit/>
          </a:bodyPr>
          <a:lstStyle/>
          <a:p>
            <a:pPr algn="l"/>
            <a:r>
              <a:rPr sz="1300" b="0" i="0">
                <a:solidFill>
                  <a:srgbClr val="FFFFFF"/>
                </a:solidFill>
              </a:rPr>
              <a:t>✅  Full test suite (Jest) for lexer, parser, and interpreter</a:t>
            </a:r>
          </a:p>
        </p:txBody>
      </p:sp>
      <p:sp>
        <p:nvSpPr>
          <p:cNvPr id="13" name="Rectangle 12"/>
          <p:cNvSpPr/>
          <p:nvPr/>
        </p:nvSpPr>
        <p:spPr>
          <a:xfrm>
            <a:off x="7635240" y="960120"/>
            <a:ext cx="4251960" cy="4114800"/>
          </a:xfrm>
          <a:prstGeom prst="rect">
            <a:avLst/>
          </a:prstGeom>
          <a:solidFill>
            <a:srgbClr val="1A2530"/>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1024128"/>
            <a:ext cx="3977639" cy="384048"/>
          </a:xfrm>
          <a:prstGeom prst="rect">
            <a:avLst/>
          </a:prstGeom>
          <a:noFill/>
        </p:spPr>
        <p:txBody>
          <a:bodyPr wrap="square">
            <a:spAutoFit/>
          </a:bodyPr>
          <a:lstStyle/>
          <a:p>
            <a:pPr algn="l"/>
            <a:r>
              <a:rPr sz="1800" b="1" i="0">
                <a:solidFill>
                  <a:srgbClr val="27AE60"/>
                </a:solidFill>
              </a:rPr>
              <a:t>What I Learned</a:t>
            </a:r>
          </a:p>
        </p:txBody>
      </p:sp>
      <p:sp>
        <p:nvSpPr>
          <p:cNvPr id="15" name="TextBox 14"/>
          <p:cNvSpPr txBox="1"/>
          <p:nvPr/>
        </p:nvSpPr>
        <p:spPr>
          <a:xfrm>
            <a:off x="7772400" y="1463040"/>
            <a:ext cx="3977639" cy="749808"/>
          </a:xfrm>
          <a:prstGeom prst="rect">
            <a:avLst/>
          </a:prstGeom>
          <a:noFill/>
        </p:spPr>
        <p:txBody>
          <a:bodyPr wrap="square">
            <a:spAutoFit/>
          </a:bodyPr>
          <a:lstStyle/>
          <a:p>
            <a:pPr algn="l"/>
            <a:r>
              <a:rPr sz="1300" b="0" i="0">
                <a:solidFill>
                  <a:srgbClr val="FFFFFF"/>
                </a:solidFill>
              </a:rPr>
              <a:t>• Compiler design end-to-end (lexer → AST → interpreter)</a:t>
            </a:r>
          </a:p>
        </p:txBody>
      </p:sp>
      <p:sp>
        <p:nvSpPr>
          <p:cNvPr id="16" name="TextBox 15"/>
          <p:cNvSpPr txBox="1"/>
          <p:nvPr/>
        </p:nvSpPr>
        <p:spPr>
          <a:xfrm>
            <a:off x="7772400" y="2267712"/>
            <a:ext cx="3977639" cy="749808"/>
          </a:xfrm>
          <a:prstGeom prst="rect">
            <a:avLst/>
          </a:prstGeom>
          <a:noFill/>
        </p:spPr>
        <p:txBody>
          <a:bodyPr wrap="square">
            <a:spAutoFit/>
          </a:bodyPr>
          <a:lstStyle/>
          <a:p>
            <a:pPr algn="l"/>
            <a:r>
              <a:rPr sz="1300" b="0" i="0">
                <a:solidFill>
                  <a:srgbClr val="FFFFFF"/>
                </a:solidFill>
              </a:rPr>
              <a:t>• Numerical methods: log-space arithmetic, log-sum-exp normalization</a:t>
            </a:r>
          </a:p>
        </p:txBody>
      </p:sp>
      <p:sp>
        <p:nvSpPr>
          <p:cNvPr id="17" name="TextBox 16"/>
          <p:cNvSpPr txBox="1"/>
          <p:nvPr/>
        </p:nvSpPr>
        <p:spPr>
          <a:xfrm>
            <a:off x="7772400" y="3072384"/>
            <a:ext cx="3977639" cy="749808"/>
          </a:xfrm>
          <a:prstGeom prst="rect">
            <a:avLst/>
          </a:prstGeom>
          <a:noFill/>
        </p:spPr>
        <p:txBody>
          <a:bodyPr wrap="square">
            <a:spAutoFit/>
          </a:bodyPr>
          <a:lstStyle/>
          <a:p>
            <a:pPr algn="l"/>
            <a:r>
              <a:rPr sz="1300" b="0" i="0">
                <a:solidFill>
                  <a:srgbClr val="FFFFFF"/>
                </a:solidFill>
              </a:rPr>
              <a:t>• Bayesian inference algorithms and their trade-offs</a:t>
            </a:r>
          </a:p>
        </p:txBody>
      </p:sp>
      <p:sp>
        <p:nvSpPr>
          <p:cNvPr id="18" name="TextBox 17"/>
          <p:cNvSpPr txBox="1"/>
          <p:nvPr/>
        </p:nvSpPr>
        <p:spPr>
          <a:xfrm>
            <a:off x="7772400" y="3877056"/>
            <a:ext cx="3977639" cy="749808"/>
          </a:xfrm>
          <a:prstGeom prst="rect">
            <a:avLst/>
          </a:prstGeom>
          <a:noFill/>
        </p:spPr>
        <p:txBody>
          <a:bodyPr wrap="square">
            <a:spAutoFit/>
          </a:bodyPr>
          <a:lstStyle/>
          <a:p>
            <a:pPr algn="l"/>
            <a:r>
              <a:rPr sz="1300" b="0" i="0">
                <a:solidFill>
                  <a:srgbClr val="FFFFFF"/>
                </a:solidFill>
              </a:rPr>
              <a:t>• Real-world data integration and statistical validation methodology</a:t>
            </a:r>
          </a:p>
        </p:txBody>
      </p:sp>
      <p:sp>
        <p:nvSpPr>
          <p:cNvPr id="19" name="Rectangle 18"/>
          <p:cNvSpPr/>
          <p:nvPr/>
        </p:nvSpPr>
        <p:spPr>
          <a:xfrm>
            <a:off x="2286000" y="5303520"/>
            <a:ext cx="7616952" cy="11887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77440" y="5394960"/>
            <a:ext cx="7434072" cy="1005840"/>
          </a:xfrm>
          <a:prstGeom prst="rect">
            <a:avLst/>
          </a:prstGeom>
          <a:noFill/>
        </p:spPr>
        <p:txBody>
          <a:bodyPr wrap="square">
            <a:spAutoFit/>
          </a:bodyPr>
          <a:lstStyle/>
          <a:p>
            <a:pPr algn="ctr"/>
            <a:r>
              <a:rPr sz="2600" b="1" i="0">
                <a:solidFill>
                  <a:srgbClr val="FFFFFF"/>
                </a:solidFill>
              </a:rPr>
              <a:t>Thank you — Questions?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88952" cy="9601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91440"/>
            <a:ext cx="11457432" cy="868680"/>
          </a:xfrm>
          <a:prstGeom prst="rect">
            <a:avLst/>
          </a:prstGeom>
          <a:noFill/>
        </p:spPr>
        <p:txBody>
          <a:bodyPr wrap="square">
            <a:spAutoFit/>
          </a:bodyPr>
          <a:lstStyle/>
          <a:p>
            <a:pPr algn="l"/>
            <a:r>
              <a:rPr sz="3200" b="1" i="0">
                <a:solidFill>
                  <a:srgbClr val="FFFFFF"/>
                </a:solidFill>
              </a:rPr>
              <a:t>Backup: Live Demo</a:t>
            </a:r>
          </a:p>
        </p:txBody>
      </p:sp>
      <p:sp>
        <p:nvSpPr>
          <p:cNvPr id="6" name="TextBox 5"/>
          <p:cNvSpPr txBox="1"/>
          <p:nvPr/>
        </p:nvSpPr>
        <p:spPr>
          <a:xfrm>
            <a:off x="365760" y="822960"/>
            <a:ext cx="11457432" cy="320040"/>
          </a:xfrm>
          <a:prstGeom prst="rect">
            <a:avLst/>
          </a:prstGeom>
          <a:noFill/>
        </p:spPr>
        <p:txBody>
          <a:bodyPr wrap="square">
            <a:spAutoFit/>
          </a:bodyPr>
          <a:lstStyle/>
          <a:p>
            <a:pPr algn="l"/>
            <a:r>
              <a:rPr sz="1600" b="0" i="0">
                <a:solidFill>
                  <a:srgbClr val="3498DB"/>
                </a:solidFill>
              </a:rPr>
              <a:t>(Use if time permits or demo is requested)</a:t>
            </a:r>
          </a:p>
        </p:txBody>
      </p:sp>
      <p:sp>
        <p:nvSpPr>
          <p:cNvPr id="7" name="Rectangle 6"/>
          <p:cNvSpPr/>
          <p:nvPr/>
        </p:nvSpPr>
        <p:spPr>
          <a:xfrm>
            <a:off x="0" y="6793992"/>
            <a:ext cx="12188952"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11640312" cy="1554480"/>
          </a:xfrm>
          <a:prstGeom prst="rect">
            <a:avLst/>
          </a:prstGeom>
          <a:solidFill>
            <a:srgbClr val="F0F4F8"/>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44752"/>
            <a:ext cx="3657600" cy="384048"/>
          </a:xfrm>
          <a:prstGeom prst="rect">
            <a:avLst/>
          </a:prstGeom>
          <a:noFill/>
        </p:spPr>
        <p:txBody>
          <a:bodyPr wrap="square">
            <a:spAutoFit/>
          </a:bodyPr>
          <a:lstStyle/>
          <a:p>
            <a:pPr algn="l"/>
            <a:r>
              <a:rPr sz="1700" b="1" i="0">
                <a:solidFill>
                  <a:srgbClr val="3498DB"/>
                </a:solidFill>
              </a:rPr>
              <a:t>Step 1: Run Inference</a:t>
            </a:r>
          </a:p>
        </p:txBody>
      </p:sp>
      <p:sp>
        <p:nvSpPr>
          <p:cNvPr id="10" name="Rectangle 9"/>
          <p:cNvSpPr/>
          <p:nvPr/>
        </p:nvSpPr>
        <p:spPr>
          <a:xfrm>
            <a:off x="457200" y="1874520"/>
            <a:ext cx="11274552" cy="502920"/>
          </a:xfrm>
          <a:prstGeom prst="rect">
            <a:avLst/>
          </a:prstGeom>
          <a:solidFill>
            <a:srgbClr val="1E2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901952"/>
            <a:ext cx="11000232" cy="438912"/>
          </a:xfrm>
          <a:prstGeom prst="rect">
            <a:avLst/>
          </a:prstGeom>
          <a:noFill/>
        </p:spPr>
        <p:txBody>
          <a:bodyPr wrap="square">
            <a:spAutoFit/>
          </a:bodyPr>
          <a:lstStyle/>
          <a:p>
            <a:pPr algn="l"/>
            <a:r>
              <a:rPr sz="1200" b="0" i="0">
                <a:solidFill>
                  <a:srgbClr val="2ECC71"/>
                </a:solidFill>
              </a:rPr>
              <a:t>$ node inference-cli.js examples/nhanes-height-weight.ppl importance 5000</a:t>
            </a:r>
          </a:p>
        </p:txBody>
      </p:sp>
      <p:sp>
        <p:nvSpPr>
          <p:cNvPr id="12" name="TextBox 11"/>
          <p:cNvSpPr txBox="1"/>
          <p:nvPr/>
        </p:nvSpPr>
        <p:spPr>
          <a:xfrm>
            <a:off x="457200" y="2468880"/>
            <a:ext cx="11274552" cy="347472"/>
          </a:xfrm>
          <a:prstGeom prst="rect">
            <a:avLst/>
          </a:prstGeom>
          <a:noFill/>
        </p:spPr>
        <p:txBody>
          <a:bodyPr wrap="square">
            <a:spAutoFit/>
          </a:bodyPr>
          <a:lstStyle/>
          <a:p>
            <a:pPr algn="l"/>
            <a:r>
              <a:rPr sz="1300" b="0" i="1">
                <a:solidFill>
                  <a:srgbClr val="7F8C8D"/>
                </a:solidFill>
              </a:rPr>
              <a:t>→ Generates nhanes-inference-results.json</a:t>
            </a:r>
          </a:p>
        </p:txBody>
      </p:sp>
      <p:sp>
        <p:nvSpPr>
          <p:cNvPr id="13" name="Rectangle 12"/>
          <p:cNvSpPr/>
          <p:nvPr/>
        </p:nvSpPr>
        <p:spPr>
          <a:xfrm>
            <a:off x="274320" y="3063240"/>
            <a:ext cx="11640312" cy="1554480"/>
          </a:xfrm>
          <a:prstGeom prst="rect">
            <a:avLst/>
          </a:prstGeom>
          <a:solidFill>
            <a:srgbClr val="F0F4F8"/>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136392"/>
            <a:ext cx="3657600" cy="384048"/>
          </a:xfrm>
          <a:prstGeom prst="rect">
            <a:avLst/>
          </a:prstGeom>
          <a:noFill/>
        </p:spPr>
        <p:txBody>
          <a:bodyPr wrap="square">
            <a:spAutoFit/>
          </a:bodyPr>
          <a:lstStyle/>
          <a:p>
            <a:pPr algn="l"/>
            <a:r>
              <a:rPr sz="1700" b="1" i="0">
                <a:solidFill>
                  <a:srgbClr val="3498DB"/>
                </a:solidFill>
              </a:rPr>
              <a:t>Step 2: Validate vs CDC</a:t>
            </a:r>
          </a:p>
        </p:txBody>
      </p:sp>
      <p:sp>
        <p:nvSpPr>
          <p:cNvPr id="15" name="Rectangle 14"/>
          <p:cNvSpPr/>
          <p:nvPr/>
        </p:nvSpPr>
        <p:spPr>
          <a:xfrm>
            <a:off x="457200" y="3566160"/>
            <a:ext cx="11274552" cy="502920"/>
          </a:xfrm>
          <a:prstGeom prst="rect">
            <a:avLst/>
          </a:prstGeom>
          <a:solidFill>
            <a:srgbClr val="1E2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593592"/>
            <a:ext cx="11000232" cy="438912"/>
          </a:xfrm>
          <a:prstGeom prst="rect">
            <a:avLst/>
          </a:prstGeom>
          <a:noFill/>
        </p:spPr>
        <p:txBody>
          <a:bodyPr wrap="square">
            <a:spAutoFit/>
          </a:bodyPr>
          <a:lstStyle/>
          <a:p>
            <a:pPr algn="l"/>
            <a:r>
              <a:rPr sz="1200" b="0" i="0">
                <a:solidFill>
                  <a:srgbClr val="2ECC71"/>
                </a:solidFill>
              </a:rPr>
              <a:t>$ node validate-nhanes.js</a:t>
            </a:r>
          </a:p>
        </p:txBody>
      </p:sp>
      <p:sp>
        <p:nvSpPr>
          <p:cNvPr id="17" name="TextBox 16"/>
          <p:cNvSpPr txBox="1"/>
          <p:nvPr/>
        </p:nvSpPr>
        <p:spPr>
          <a:xfrm>
            <a:off x="457200" y="4160520"/>
            <a:ext cx="11274552" cy="347472"/>
          </a:xfrm>
          <a:prstGeom prst="rect">
            <a:avLst/>
          </a:prstGeom>
          <a:noFill/>
        </p:spPr>
        <p:txBody>
          <a:bodyPr wrap="square">
            <a:spAutoFit/>
          </a:bodyPr>
          <a:lstStyle/>
          <a:p>
            <a:pPr algn="l"/>
            <a:r>
              <a:rPr sz="1300" b="0" i="1">
                <a:solidFill>
                  <a:srgbClr val="7F8C8D"/>
                </a:solidFill>
              </a:rPr>
              <a:t>→ Prints parameter table with % error</a:t>
            </a:r>
          </a:p>
        </p:txBody>
      </p:sp>
      <p:sp>
        <p:nvSpPr>
          <p:cNvPr id="18" name="Rectangle 17"/>
          <p:cNvSpPr/>
          <p:nvPr/>
        </p:nvSpPr>
        <p:spPr>
          <a:xfrm>
            <a:off x="274320" y="4754880"/>
            <a:ext cx="11640312" cy="1554480"/>
          </a:xfrm>
          <a:prstGeom prst="rect">
            <a:avLst/>
          </a:prstGeom>
          <a:solidFill>
            <a:srgbClr val="F0F4F8"/>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828032"/>
            <a:ext cx="3657600" cy="384048"/>
          </a:xfrm>
          <a:prstGeom prst="rect">
            <a:avLst/>
          </a:prstGeom>
          <a:noFill/>
        </p:spPr>
        <p:txBody>
          <a:bodyPr wrap="square">
            <a:spAutoFit/>
          </a:bodyPr>
          <a:lstStyle/>
          <a:p>
            <a:pPr algn="l"/>
            <a:r>
              <a:rPr sz="1700" b="1" i="0">
                <a:solidFill>
                  <a:srgbClr val="3498DB"/>
                </a:solidFill>
              </a:rPr>
              <a:t>Step 3: Visualize</a:t>
            </a:r>
          </a:p>
        </p:txBody>
      </p:sp>
      <p:sp>
        <p:nvSpPr>
          <p:cNvPr id="20" name="Rectangle 19"/>
          <p:cNvSpPr/>
          <p:nvPr/>
        </p:nvSpPr>
        <p:spPr>
          <a:xfrm>
            <a:off x="457200" y="5257800"/>
            <a:ext cx="11274552" cy="502920"/>
          </a:xfrm>
          <a:prstGeom prst="rect">
            <a:avLst/>
          </a:prstGeom>
          <a:solidFill>
            <a:srgbClr val="1E2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5285232"/>
            <a:ext cx="11000232" cy="438912"/>
          </a:xfrm>
          <a:prstGeom prst="rect">
            <a:avLst/>
          </a:prstGeom>
          <a:noFill/>
        </p:spPr>
        <p:txBody>
          <a:bodyPr wrap="square">
            <a:spAutoFit/>
          </a:bodyPr>
          <a:lstStyle/>
          <a:p>
            <a:pPr algn="l"/>
            <a:r>
              <a:rPr sz="1200" b="0" i="0">
                <a:solidFill>
                  <a:srgbClr val="2ECC71"/>
                </a:solidFill>
              </a:rPr>
              <a:t>$ node visualize-nhanes.js</a:t>
            </a:r>
          </a:p>
        </p:txBody>
      </p:sp>
      <p:sp>
        <p:nvSpPr>
          <p:cNvPr id="22" name="TextBox 21"/>
          <p:cNvSpPr txBox="1"/>
          <p:nvPr/>
        </p:nvSpPr>
        <p:spPr>
          <a:xfrm>
            <a:off x="457200" y="5852160"/>
            <a:ext cx="11274552" cy="347472"/>
          </a:xfrm>
          <a:prstGeom prst="rect">
            <a:avLst/>
          </a:prstGeom>
          <a:noFill/>
        </p:spPr>
        <p:txBody>
          <a:bodyPr wrap="square">
            <a:spAutoFit/>
          </a:bodyPr>
          <a:lstStyle/>
          <a:p>
            <a:pPr algn="l"/>
            <a:r>
              <a:rPr sz="1300" b="0" i="1">
                <a:solidFill>
                  <a:srgbClr val="7F8C8D"/>
                </a:solidFill>
              </a:rPr>
              <a:t>→ Opens inference-visualizations/nhanes-validation.html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734</TotalTime>
  <Words>1811</Words>
  <Application>Microsoft Macintosh PowerPoint</Application>
  <PresentationFormat>Custom</PresentationFormat>
  <Paragraphs>181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Anshit  Singh Panchbahadur Rajput</cp:lastModifiedBy>
  <cp:revision>2</cp:revision>
  <dcterms:created xsi:type="dcterms:W3CDTF">2013-01-27T09:14:16Z</dcterms:created>
  <dcterms:modified xsi:type="dcterms:W3CDTF">2026-05-09T03:02:35Z</dcterms:modified>
  <cp:category/>
</cp:coreProperties>
</file>